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69" r:id="rId4"/>
    <p:sldId id="268" r:id="rId5"/>
    <p:sldId id="259" r:id="rId6"/>
    <p:sldId id="271" r:id="rId7"/>
    <p:sldId id="272" r:id="rId8"/>
    <p:sldId id="274" r:id="rId9"/>
    <p:sldId id="273" r:id="rId10"/>
    <p:sldId id="260" r:id="rId11"/>
    <p:sldId id="27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8822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9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9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9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4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0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0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6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4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39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7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81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22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50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04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2519D4-37A8-76F9-5B64-FDEB9A71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B4FBF1-1224-E578-697D-5FA00FBC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B375EB-644D-9B51-90A3-5DF7CC0C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1C4334-E25B-17F3-98D0-3D69571E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3750D2-1A8B-743D-1E97-EDFD083D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2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shorts/OMDebcLvBGg?feature=share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528" y="187450"/>
            <a:ext cx="7251192" cy="2063497"/>
          </a:xfrm>
        </p:spPr>
        <p:txBody>
          <a:bodyPr>
            <a:normAutofit/>
          </a:bodyPr>
          <a:lstStyle/>
          <a:p>
            <a:r>
              <a:rPr sz="4000" dirty="0" err="1"/>
              <a:t>Énigme</a:t>
            </a:r>
            <a:r>
              <a:rPr sz="4000" dirty="0"/>
              <a:t> escape </a:t>
            </a:r>
            <a:r>
              <a:rPr sz="4000" dirty="0" err="1"/>
              <a:t>roo</a:t>
            </a:r>
            <a:r>
              <a:rPr lang="fr-CA" sz="4000" dirty="0"/>
              <a:t>m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2250950"/>
            <a:ext cx="6400800" cy="2356104"/>
          </a:xfrm>
        </p:spPr>
        <p:txBody>
          <a:bodyPr>
            <a:normAutofit/>
          </a:bodyPr>
          <a:lstStyle/>
          <a:p>
            <a:r>
              <a:rPr lang="fr-CA" sz="2800" dirty="0"/>
              <a:t>Xavier Desroches</a:t>
            </a:r>
            <a:endParaRPr sz="2800" dirty="0"/>
          </a:p>
          <a:p>
            <a:r>
              <a:rPr sz="2800" dirty="0" err="1"/>
              <a:t>Objet</a:t>
            </a:r>
            <a:r>
              <a:rPr sz="2800" dirty="0"/>
              <a:t> </a:t>
            </a:r>
            <a:r>
              <a:rPr sz="2800" dirty="0" err="1"/>
              <a:t>connecté</a:t>
            </a:r>
            <a:endParaRPr sz="2800" dirty="0"/>
          </a:p>
          <a:p>
            <a:r>
              <a:rPr sz="2800" dirty="0"/>
              <a:t>ESP32 (ESP-IDF)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 err="1"/>
              <a:t>Scénario</a:t>
            </a:r>
            <a:r>
              <a:rPr lang="fr-CA" sz="4000" dirty="0"/>
              <a:t> et </a:t>
            </a:r>
            <a:r>
              <a:rPr lang="fr-FR" sz="4000" dirty="0"/>
              <a:t>Rôle de l’énigme 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115747"/>
            <a:ext cx="7797662" cy="3904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Dans un laboratoire clandestin, un coffre renferme l’antidote dont l’équipe a besoin pour s’échapper. </a:t>
            </a:r>
          </a:p>
          <a:p>
            <a:pPr marL="0" indent="0">
              <a:buNone/>
            </a:pPr>
            <a: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Le carnet du scientifique décrit une serrure électronique angulaire : seuls trois angles précis, entrés dans le bon ordre, déverrouillent le mécanisme. Une console reliée au coffre (écran LCD et buzzer) sert d’interface : le joystick permet une rotation 360°, le buzzer accélère quand on se rapproche de l’angle cible, et le LCD affiche l’étape et les indices. </a:t>
            </a:r>
          </a:p>
          <a:p>
            <a:pPr marL="0" indent="0">
              <a:buNone/>
            </a:pPr>
            <a: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Le joueur valide chaque angle en enfonçant le joystick.</a:t>
            </a:r>
            <a:b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Rôle dans l’expérience : cette énigme ouvre le coffre contenant l’antidote, étape clé pour progresser vers la sortie.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865E0-C166-F406-18AB-7F516588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Schéma du circuit électronique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9E04CFE-1B5A-0833-A2A8-9FAB9C598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726" y="1577769"/>
            <a:ext cx="6638544" cy="390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5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E9D11-6108-9346-3BAA-9F114F20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Explications DU fonctionnement.</a:t>
            </a:r>
            <a:endParaRPr lang="fr-C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C8ABED-2D56-42FF-52F8-344DEA2A5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2" y="1904013"/>
            <a:ext cx="7797661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Détection </a:t>
            </a:r>
            <a:r>
              <a:rPr lang="fr-FR" altLang="fr-FR" sz="1300" b="1" cap="none" dirty="0">
                <a:latin typeface="Arial" panose="020B0604020202020204" pitchFamily="34" charset="0"/>
              </a:rPr>
              <a:t>par</a:t>
            </a:r>
            <a:r>
              <a:rPr kumimoji="0" lang="fr-FR" altLang="fr-F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joystick</a:t>
            </a: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joystick analogique envoie deux valeurs (axe X et Y) lues par les entrées analogiques de l’ESP32.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pression sur le bouton du joystick (entrée numérique) sert à valider la sélection.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microcontrôleur interprète ces signaux pour savoir quelle direction le joueur a choisie.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Traitement par l’ESP32</a:t>
            </a: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L’ESP32 compare la séquence entrée par le joueur avec le code attendu.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la combinaison est correcte, il déclenche la séquence de réussite : </a:t>
            </a:r>
            <a:r>
              <a:rPr lang="fr-FR" altLang="fr-FR" sz="1300" cap="none" dirty="0">
                <a:latin typeface="Arial" panose="020B0604020202020204" pitchFamily="34" charset="0"/>
              </a:rPr>
              <a:t>la LED verte s’allume brièvement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un son court du buzzer. Sinon la LED rouge s’allume brièvement et un bip d’erreur est émis.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cap="none" dirty="0">
                <a:latin typeface="Arial" panose="020B0604020202020204" pitchFamily="34" charset="0"/>
              </a:rPr>
              <a:t>Ensuite après trois validations réussies, la séquence de victoire s’active ce qui affiche un message sur l’écran, allume la lumière verte et fait une petite musique avec le buzzer.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cap="none" dirty="0">
                <a:latin typeface="Arial" panose="020B0604020202020204" pitchFamily="34" charset="0"/>
              </a:rPr>
              <a:t>Si on ne réussi pas, la séquence de défaite s’active ce qui affiche un message sur l’écran de défaite, allume la lumière rouge et fait une petite musique avec le buzzer.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Finalement, le jeu se réinitialise et on peut réessayer.</a:t>
            </a:r>
          </a:p>
        </p:txBody>
      </p:sp>
    </p:spTree>
    <p:extLst>
      <p:ext uri="{BB962C8B-B14F-4D97-AF65-F5344CB8AC3E}">
        <p14:creationId xmlns:p14="http://schemas.microsoft.com/office/powerpoint/2010/main" val="164836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Capteurs</a:t>
            </a:r>
            <a:r>
              <a:rPr sz="4000" dirty="0"/>
              <a:t> &amp; </a:t>
            </a:r>
            <a:r>
              <a:rPr sz="4000" dirty="0" err="1"/>
              <a:t>actionneurs</a:t>
            </a:r>
            <a:endParaRPr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F06863-A6F2-E3E8-4AB9-CF7E51859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2096595"/>
            <a:ext cx="779766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fr-FR" altLang="fr-FR" sz="13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Joystick</a:t>
            </a:r>
            <a:r>
              <a:rPr kumimoji="0" lang="fr-FR" altLang="fr-FR" sz="13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Sert d’interface principale pour la saisie et la navigation dans le cadenas interactif.</a:t>
            </a:r>
            <a:r>
              <a:rPr lang="fr-FR" alt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kumimoji="0" lang="fr-FR" altLang="fr-FR" sz="13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ustification</a:t>
            </a:r>
            <a:r>
              <a:rPr kumimoji="0" lang="fr-FR" altLang="fr-FR" sz="13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Contrôle fin et précis :</a:t>
            </a:r>
            <a:r>
              <a:rPr lang="fr-FR" sz="1300" cap="none" dirty="0">
                <a:latin typeface="Arial" panose="020B0604020202020204" pitchFamily="34" charset="0"/>
              </a:rPr>
              <a:t> Le joystick permet de sélectionner des directions avec une grande sensibilité, ce qui rajoute aussi une petite difficulté.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3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Interface intuitive :</a:t>
            </a:r>
            <a:r>
              <a:rPr lang="fr-FR" sz="1300" cap="none" dirty="0">
                <a:latin typeface="Arial" panose="020B0604020202020204" pitchFamily="34" charset="0"/>
              </a:rPr>
              <a:t> Le mouvement multidirectionnel est naturel et familier (comme une manette). L’utilisateur comprend rapidement comment interagir sans apprentissage complexe.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1300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Sensation mécanique de cadenas :</a:t>
            </a:r>
            <a:r>
              <a:rPr lang="fr-FR" sz="1300" cap="none" dirty="0">
                <a:latin typeface="Arial" panose="020B0604020202020204" pitchFamily="34" charset="0"/>
              </a:rPr>
              <a:t> Le mouvement rotatif ressemble à cadenas traditionnel, renforçant l’immersion.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3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Validation intégrée :</a:t>
            </a:r>
            <a:r>
              <a:rPr lang="fr-FR" sz="1300" cap="none" dirty="0">
                <a:latin typeface="Arial" panose="020B0604020202020204" pitchFamily="34" charset="0"/>
              </a:rPr>
              <a:t> Le bouton-poussoir central du joystick simplifie la conception en combinant navigation et confirmation dans un seul dispositif.</a:t>
            </a:r>
            <a:endParaRPr kumimoji="0" lang="fr-FR" altLang="fr-FR" sz="13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325C-A4BF-66D8-080F-4A9D6E11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5000-60E2-C450-6E89-CA3276A0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Capteurs</a:t>
            </a:r>
            <a:r>
              <a:rPr sz="4000" dirty="0"/>
              <a:t> &amp; </a:t>
            </a:r>
            <a:r>
              <a:rPr sz="4000" dirty="0" err="1"/>
              <a:t>actionneurs</a:t>
            </a:r>
            <a:endParaRPr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5897FC-9258-631E-A48B-ECF7EA31E7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2396673"/>
            <a:ext cx="7797662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Écran LCD 16×2 I²C</a:t>
            </a:r>
            <a:r>
              <a:rPr lang="fr-FR" alt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Fournit le retour visuel principal (étapes, tentatives, codes, messages).</a:t>
            </a:r>
            <a:endParaRPr lang="fr-FR" alt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Justification</a:t>
            </a:r>
            <a:r>
              <a:rPr lang="fr-FR" alt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Affichage clair et structuré :</a:t>
            </a:r>
            <a:r>
              <a:rPr lang="fr-FR" altLang="fr-FR" sz="1300" cap="none" dirty="0">
                <a:latin typeface="Arial" panose="020B0604020202020204" pitchFamily="34" charset="0"/>
              </a:rPr>
              <a:t> Deux lignes permettent de séparer les informations importantes (ex. : ligne 1 = étape/cible, ligne 2 = feedback).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300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Lisibilité et esthétique :</a:t>
            </a:r>
            <a:r>
              <a:rPr lang="fr-FR" altLang="fr-FR" sz="1300" cap="none" dirty="0">
                <a:latin typeface="Arial" panose="020B0604020202020204" pitchFamily="34" charset="0"/>
              </a:rPr>
              <a:t> L’affichage rétroéclairé rend l’appareil lisible en environnement sombre                                           et ressemble à un appareil de laboratoire ou un dispositif de sécurité professionnel.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300" b="1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Feedback instantané :</a:t>
            </a:r>
            <a:r>
              <a:rPr lang="fr-FR" altLang="fr-FR" sz="1300" cap="none" dirty="0">
                <a:latin typeface="Arial" panose="020B0604020202020204" pitchFamily="34" charset="0"/>
              </a:rPr>
              <a:t> L’utilisateur visualise immédiatement ses progrès ou ses erreurs sans     devoir consulter un autre écran.</a:t>
            </a:r>
          </a:p>
        </p:txBody>
      </p:sp>
    </p:spTree>
    <p:extLst>
      <p:ext uri="{BB962C8B-B14F-4D97-AF65-F5344CB8AC3E}">
        <p14:creationId xmlns:p14="http://schemas.microsoft.com/office/powerpoint/2010/main" val="179625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B08D-7CDB-FC5C-D1C6-B959AD14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509A-F2AA-EBF7-0033-DE54CFCC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Capteurs</a:t>
            </a:r>
            <a:r>
              <a:rPr sz="4000" dirty="0"/>
              <a:t> &amp; </a:t>
            </a:r>
            <a:r>
              <a:rPr sz="4000" dirty="0" err="1"/>
              <a:t>actionneurs</a:t>
            </a:r>
            <a:endParaRPr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CD8FC6-C6B6-F9F7-5711-3BF5A50871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2396676"/>
            <a:ext cx="7797662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Buzzer </a:t>
            </a:r>
            <a:r>
              <a:rPr lang="fr-FR" altLang="fr-FR" sz="1300" b="1" cap="none" dirty="0" err="1">
                <a:latin typeface="Arial" panose="020B0604020202020204" pitchFamily="34" charset="0"/>
              </a:rPr>
              <a:t>piezo</a:t>
            </a:r>
            <a:r>
              <a:rPr lang="fr-FR" altLang="fr-FR" sz="1300" b="1" cap="none" dirty="0">
                <a:latin typeface="Arial" panose="020B0604020202020204" pitchFamily="34" charset="0"/>
              </a:rPr>
              <a:t> </a:t>
            </a:r>
            <a:r>
              <a:rPr lang="fr-FR" sz="1300" b="1" cap="none" dirty="0">
                <a:latin typeface="Arial" panose="020B0604020202020204" pitchFamily="34" charset="0"/>
              </a:rPr>
              <a:t>:</a:t>
            </a:r>
            <a:r>
              <a:rPr lang="fr-FR" sz="1300" cap="none" dirty="0">
                <a:latin typeface="Arial" panose="020B0604020202020204" pitchFamily="34" charset="0"/>
              </a:rPr>
              <a:t> Fournit un retour sonore selon la distance à la solution, les erreurs, et la fin de partie.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Justification</a:t>
            </a:r>
            <a:r>
              <a:rPr lang="fr-FR" alt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Feedback immédiat et intuitif : </a:t>
            </a:r>
            <a:r>
              <a:rPr lang="fr-FR" altLang="fr-FR" sz="1300" cap="none" dirty="0">
                <a:latin typeface="Arial" panose="020B0604020202020204" pitchFamily="34" charset="0"/>
              </a:rPr>
              <a:t>Les sons guident l’utilisateur sans qu’il ait besoin de détourner les yeux du dispositif (utile dans un escape </a:t>
            </a:r>
            <a:r>
              <a:rPr lang="fr-FR" altLang="fr-FR" sz="1300" cap="none" dirty="0" err="1">
                <a:latin typeface="Arial" panose="020B0604020202020204" pitchFamily="34" charset="0"/>
              </a:rPr>
              <a:t>game</a:t>
            </a:r>
            <a:r>
              <a:rPr lang="fr-FR" altLang="fr-FR" sz="1300" cap="none" dirty="0">
                <a:latin typeface="Arial" panose="020B0604020202020204" pitchFamily="34" charset="0"/>
              </a:rPr>
              <a:t>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300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Langage sonore simple : </a:t>
            </a:r>
            <a:r>
              <a:rPr lang="fr-FR" altLang="fr-FR" sz="1300" cap="none" dirty="0">
                <a:latin typeface="Arial" panose="020B0604020202020204" pitchFamily="34" charset="0"/>
              </a:rPr>
              <a:t>Différentes tonalités peuvent signaler la réussite, l’erreur, ou la proximité d’un bon code, ce qui rend le jeu plus stimulant et intéressant.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300" b="1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Consommation minimale : </a:t>
            </a:r>
            <a:r>
              <a:rPr lang="fr-FR" altLang="fr-FR" sz="1300" cap="none" dirty="0">
                <a:latin typeface="Arial" panose="020B0604020202020204" pitchFamily="34" charset="0"/>
              </a:rPr>
              <a:t>Le buzzer </a:t>
            </a:r>
            <a:r>
              <a:rPr lang="fr-FR" altLang="fr-FR" sz="1300" cap="none" dirty="0" err="1">
                <a:latin typeface="Arial" panose="020B0604020202020204" pitchFamily="34" charset="0"/>
              </a:rPr>
              <a:t>piézo</a:t>
            </a:r>
            <a:r>
              <a:rPr lang="fr-FR" altLang="fr-FR" sz="1300" cap="none" dirty="0">
                <a:latin typeface="Arial" panose="020B0604020202020204" pitchFamily="34" charset="0"/>
              </a:rPr>
              <a:t> est économe en énergie, compact et facile à piloter via PWM ou signal digital simple.</a:t>
            </a:r>
          </a:p>
        </p:txBody>
      </p:sp>
    </p:spTree>
    <p:extLst>
      <p:ext uri="{BB962C8B-B14F-4D97-AF65-F5344CB8AC3E}">
        <p14:creationId xmlns:p14="http://schemas.microsoft.com/office/powerpoint/2010/main" val="110276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45E1-87F4-C521-F916-2C6CE010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3E19-E259-E21A-DCFE-C5EC7BC8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Capteurs</a:t>
            </a:r>
            <a:r>
              <a:rPr sz="4000" dirty="0"/>
              <a:t> &amp; </a:t>
            </a:r>
            <a:r>
              <a:rPr sz="4000" dirty="0" err="1"/>
              <a:t>actionneurs</a:t>
            </a:r>
            <a:endParaRPr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4C9DC8-0C95-106F-1055-28A13F883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2196619"/>
            <a:ext cx="7797662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LED verte / rouge (actionneurs visuels) : </a:t>
            </a:r>
            <a:r>
              <a:rPr lang="fr-FR" altLang="fr-FR" sz="1300" cap="none" dirty="0">
                <a:latin typeface="Arial" panose="020B0604020202020204" pitchFamily="34" charset="0"/>
              </a:rPr>
              <a:t>Fournir un retour visuel immédiat pour la validation des actions.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Justification</a:t>
            </a:r>
            <a:r>
              <a:rPr lang="fr-FR" alt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Lecture instantanée : </a:t>
            </a:r>
            <a:r>
              <a:rPr lang="fr-FR" altLang="fr-FR" sz="1300" cap="none" dirty="0">
                <a:latin typeface="Arial" panose="020B0604020202020204" pitchFamily="34" charset="0"/>
              </a:rPr>
              <a:t>Le code couleur universel (vert = succès, rouge = erreur) est compris instantanément, sans explication.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300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Complémentaire : </a:t>
            </a:r>
            <a:r>
              <a:rPr lang="fr-FR" altLang="fr-FR" sz="1300" cap="none" dirty="0">
                <a:latin typeface="Arial" panose="020B0604020202020204" pitchFamily="34" charset="0"/>
              </a:rPr>
              <a:t>Les LED complètent le buzzer et l’écran pour offrir une expérience cohérente.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300" b="1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Simplicité et fiabilité : </a:t>
            </a:r>
            <a:r>
              <a:rPr lang="fr-FR" altLang="fr-FR" sz="1300" cap="none" dirty="0">
                <a:latin typeface="Arial" panose="020B0604020202020204" pitchFamily="34" charset="0"/>
              </a:rPr>
              <a:t>Faciles à intégrer et très réactives, elles assurent un retour visuel même si le LCD est temporairement indisponible.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b="1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Esthétique cohérente :</a:t>
            </a:r>
            <a:r>
              <a:rPr lang="fr-FR" sz="1300" cap="none" dirty="0">
                <a:latin typeface="Arial" panose="020B0604020202020204" pitchFamily="34" charset="0"/>
              </a:rPr>
              <a:t> Elles peuvent ressembler à des voyants de dispositifs de sécurité.</a:t>
            </a:r>
            <a:endParaRPr lang="fr-FR" altLang="fr-FR" sz="1300" b="1" cap="non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41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570C-23C5-EBD3-983C-09F57E1C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EFC4-E311-FE58-A2BF-A2B74E55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Capteurs</a:t>
            </a:r>
            <a:r>
              <a:rPr sz="4000" dirty="0"/>
              <a:t> &amp; </a:t>
            </a:r>
            <a:r>
              <a:rPr sz="4000" dirty="0" err="1"/>
              <a:t>actionneurs</a:t>
            </a:r>
            <a:endParaRPr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8BB378-7D5B-5877-60D7-3CB8533A60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2596729"/>
            <a:ext cx="7797662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</a:rPr>
              <a:t>ESP32 </a:t>
            </a:r>
            <a:r>
              <a:rPr lang="fr-FR" altLang="fr-FR" sz="1300" b="1" cap="none" dirty="0" err="1">
                <a:latin typeface="Arial" panose="020B0604020202020204" pitchFamily="34" charset="0"/>
              </a:rPr>
              <a:t>DevKit</a:t>
            </a:r>
            <a:r>
              <a:rPr lang="fr-FR" altLang="fr-FR" sz="1300" cap="none" dirty="0">
                <a:latin typeface="Arial" panose="020B0604020202020204" pitchFamily="34" charset="0"/>
              </a:rPr>
              <a:t> </a:t>
            </a:r>
            <a:r>
              <a:rPr lang="fr-FR" sz="1300" b="1" cap="none" dirty="0">
                <a:latin typeface="Arial" panose="020B0604020202020204" pitchFamily="34" charset="0"/>
              </a:rPr>
              <a:t>:</a:t>
            </a:r>
            <a:r>
              <a:rPr lang="fr-FR" sz="1300" cap="none" dirty="0">
                <a:latin typeface="Arial" panose="020B0604020202020204" pitchFamily="34" charset="0"/>
              </a:rPr>
              <a:t> Cerveau du système, gérant les entrées / sorties, la logique du jeu, et la communication.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Justification</a:t>
            </a:r>
            <a:r>
              <a:rPr lang="fr-FR" altLang="fr-FR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endParaRPr lang="fr-FR" altLang="fr-FR" sz="1300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Plateforme robuste et communautaire :</a:t>
            </a:r>
            <a:r>
              <a:rPr lang="fr-FR" sz="1300" cap="none" dirty="0">
                <a:latin typeface="Arial" panose="020B0604020202020204" pitchFamily="34" charset="0"/>
              </a:rPr>
              <a:t> Très documentée, stable et utilisée dans de nombreux projets IoT, garantissant fiabilité et maintenance à long terme.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300" b="1" cap="none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300" b="1" cap="none" dirty="0">
                <a:latin typeface="Arial" panose="020B0604020202020204" pitchFamily="34" charset="0"/>
              </a:rPr>
              <a:t>Nombre de GPIO suffisant :</a:t>
            </a:r>
            <a:r>
              <a:rPr lang="fr-FR" sz="1300" cap="none" dirty="0">
                <a:latin typeface="Arial" panose="020B0604020202020204" pitchFamily="34" charset="0"/>
              </a:rPr>
              <a:t> Permet de connecter le joystick, les LED, le buzzer et le LCD facilement.</a:t>
            </a:r>
            <a:endParaRPr lang="fr-FR" altLang="fr-FR" sz="1300" cap="non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3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Communication (2</a:t>
            </a:r>
            <a:r>
              <a:rPr lang="fr-CA" sz="4000" baseline="30000" dirty="0"/>
              <a:t>ième</a:t>
            </a:r>
            <a:r>
              <a:rPr lang="fr-CA" sz="4000" dirty="0"/>
              <a:t> remise)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Pour la 2</a:t>
            </a:r>
            <a:r>
              <a:rPr lang="fr-CA" sz="1300" cap="none" baseline="30000" dirty="0">
                <a:latin typeface="Arial" panose="020B0604020202020204" pitchFamily="34" charset="0"/>
                <a:cs typeface="Arial" panose="020B0604020202020204" pitchFamily="34" charset="0"/>
              </a:rPr>
              <a:t>ième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remise, on connectera le esp32 avec l’ordi via wifi ou USB.</a:t>
            </a:r>
          </a:p>
          <a:p>
            <a:pPr>
              <a:buFontTx/>
              <a:buChar char="-"/>
            </a:pP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On pourra savoir le temps que prend le joueur pour ouvrir le cadenas à chaque tentative</a:t>
            </a:r>
          </a:p>
          <a:p>
            <a:pPr>
              <a:buFontTx/>
              <a:buChar char="-"/>
            </a:pP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Le nombre de raté</a:t>
            </a:r>
          </a:p>
          <a:p>
            <a:pPr>
              <a:buFontTx/>
              <a:buChar char="-"/>
            </a:pP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Peut-être une liste de tous les essais (ou seulement le dernier)</a:t>
            </a:r>
          </a:p>
          <a:p>
            <a:pPr>
              <a:buFontTx/>
              <a:buChar char="-"/>
            </a:pPr>
            <a:endParaRPr lang="fr-CA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On affichera ça sur l’ordinateur en temps réel</a:t>
            </a:r>
          </a:p>
          <a:p>
            <a:pPr marL="0" indent="0">
              <a:buNone/>
            </a:pPr>
            <a:endParaRPr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5756B-CEEA-72EF-DF13-93C7207B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4000" dirty="0"/>
              <a:t>Roadmap (Liste de chose à faire)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6CAAAC-67EF-4CF5-1487-8772485B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1533044"/>
            <a:ext cx="7797662" cy="3311189"/>
          </a:xfrm>
        </p:spPr>
        <p:txBody>
          <a:bodyPr>
            <a:normAutofit/>
          </a:bodyPr>
          <a:lstStyle/>
          <a:p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Prototype Fonctionnel : joystick, </a:t>
            </a:r>
            <a:r>
              <a:rPr lang="fr-CA" sz="13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led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, buzzer, écran </a:t>
            </a:r>
            <a:r>
              <a:rPr lang="fr-CA" sz="13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lcd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= terminé</a:t>
            </a:r>
          </a:p>
          <a:p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Code fonctionnel = terminé</a:t>
            </a:r>
          </a:p>
          <a:p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Configurer l’écran </a:t>
            </a:r>
            <a:r>
              <a:rPr lang="fr-CA" sz="13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lcd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pour un affichage propre = terminé</a:t>
            </a:r>
          </a:p>
          <a:p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Création du tableau de bord sur ordi = à faire</a:t>
            </a:r>
          </a:p>
          <a:p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Communication avec wifi = à faire</a:t>
            </a:r>
          </a:p>
        </p:txBody>
      </p:sp>
    </p:spTree>
    <p:extLst>
      <p:ext uri="{BB962C8B-B14F-4D97-AF65-F5344CB8AC3E}">
        <p14:creationId xmlns:p14="http://schemas.microsoft.com/office/powerpoint/2010/main" val="221990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Introduction aux </a:t>
            </a:r>
            <a:r>
              <a:rPr sz="4000" dirty="0" err="1"/>
              <a:t>annexe</a:t>
            </a:r>
            <a:r>
              <a:rPr lang="fr-CA" sz="4000" dirty="0"/>
              <a:t>s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37766"/>
            <a:ext cx="7797662" cy="2188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A1 — Code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dossier cadenas</a:t>
            </a:r>
            <a:b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Contenu: main/, components/ (lcd1602_i2c, joystick, buzzer, </a:t>
            </a:r>
            <a:r>
              <a:rPr lang="fr-CA" sz="13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leds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), README.md.</a:t>
            </a:r>
          </a:p>
          <a:p>
            <a:pPr marL="0" indent="0">
              <a:buNone/>
            </a:pPr>
            <a:endParaRPr lang="fr-CA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CA" sz="1300" b="1" cap="none" dirty="0">
                <a:latin typeface="Arial" panose="020B0604020202020204" pitchFamily="34" charset="0"/>
                <a:cs typeface="Arial" panose="020B0604020202020204" pitchFamily="34" charset="0"/>
              </a:rPr>
              <a:t>A2 — Vidéo YouTube Démo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https://youtube.com/shorts/OMDebcLvBGg?feature=share</a:t>
            </a:r>
            <a:endParaRPr lang="fr-CA"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(Dans la vidéo, le son de l’indicateur sonore </a:t>
            </a:r>
            <a:r>
              <a:rPr lang="fr-CA" sz="1300" cap="none">
                <a:latin typeface="Arial" panose="020B0604020202020204" pitchFamily="34" charset="0"/>
                <a:cs typeface="Arial" panose="020B0604020202020204" pitchFamily="34" charset="0"/>
              </a:rPr>
              <a:t>ou buzzer est 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très faible quand tu es proche de la cible, mais il est vraiment là 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fr-CA" sz="1300" cap="non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3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Grand événem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Grand événem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and événem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1002</Words>
  <Application>Microsoft Office PowerPoint</Application>
  <PresentationFormat>Affichage à l'écran 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Impact</vt:lpstr>
      <vt:lpstr>Grand événement</vt:lpstr>
      <vt:lpstr>Énigme escape room</vt:lpstr>
      <vt:lpstr>Scénario et Rôle de l’énigme </vt:lpstr>
      <vt:lpstr>Schéma du circuit électronique</vt:lpstr>
      <vt:lpstr>Explications DU fonctionnement.</vt:lpstr>
      <vt:lpstr>Capteurs &amp; actionneurs</vt:lpstr>
      <vt:lpstr>Capteurs &amp; actionneurs</vt:lpstr>
      <vt:lpstr>Capteurs &amp; actionneurs</vt:lpstr>
      <vt:lpstr>Capteurs &amp; actionneurs</vt:lpstr>
      <vt:lpstr>Capteurs &amp; actionneurs</vt:lpstr>
      <vt:lpstr>Communication (2ième remise)</vt:lpstr>
      <vt:lpstr>Roadmap (Liste de chose à faire)</vt:lpstr>
      <vt:lpstr>Introduction aux annexes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Xavier Desroches</cp:lastModifiedBy>
  <cp:revision>278</cp:revision>
  <dcterms:created xsi:type="dcterms:W3CDTF">2013-01-27T09:14:16Z</dcterms:created>
  <dcterms:modified xsi:type="dcterms:W3CDTF">2025-10-28T22:45:49Z</dcterms:modified>
  <cp:category/>
</cp:coreProperties>
</file>