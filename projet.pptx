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9" r:id="rId1"/>
  </p:sldMasterIdLst>
  <p:sldIdLst>
    <p:sldId id="256" r:id="rId2"/>
    <p:sldId id="257" r:id="rId3"/>
    <p:sldId id="269" r:id="rId4"/>
    <p:sldId id="268" r:id="rId5"/>
    <p:sldId id="259" r:id="rId6"/>
    <p:sldId id="271" r:id="rId7"/>
    <p:sldId id="272" r:id="rId8"/>
    <p:sldId id="274" r:id="rId9"/>
    <p:sldId id="273" r:id="rId10"/>
    <p:sldId id="260" r:id="rId11"/>
    <p:sldId id="275" r:id="rId12"/>
    <p:sldId id="270" r:id="rId13"/>
    <p:sldId id="261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79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Brickwork-SD-R1acrop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 useBgFill="1">
        <p:nvSpPr>
          <p:cNvPr id="13" name="Freeform 12"/>
          <p:cNvSpPr/>
          <p:nvPr/>
        </p:nvSpPr>
        <p:spPr>
          <a:xfrm>
            <a:off x="-8467" y="-16933"/>
            <a:ext cx="8754534" cy="6451600"/>
          </a:xfrm>
          <a:custGeom>
            <a:avLst/>
            <a:gdLst/>
            <a:ahLst/>
            <a:cxnLst/>
            <a:rect l="l" t="t" r="r" b="b"/>
            <a:pathLst>
              <a:path w="8754534" h="6451600">
                <a:moveTo>
                  <a:pt x="8373534" y="0"/>
                </a:moveTo>
                <a:lnTo>
                  <a:pt x="8754534" y="5994400"/>
                </a:lnTo>
                <a:lnTo>
                  <a:pt x="0" y="6451600"/>
                </a:lnTo>
                <a:lnTo>
                  <a:pt x="0" y="0"/>
                </a:lnTo>
                <a:lnTo>
                  <a:pt x="8373534" y="0"/>
                </a:lnTo>
                <a:close/>
              </a:path>
            </a:pathLst>
          </a:custGeom>
          <a:ln>
            <a:noFill/>
          </a:ln>
          <a:effectLst>
            <a:outerShdw blurRad="98425" dist="76200" dir="4380000" algn="tl" rotWithShape="0">
              <a:srgbClr val="000000">
                <a:alpha val="6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3" name="Freeform 22"/>
          <p:cNvSpPr/>
          <p:nvPr/>
        </p:nvSpPr>
        <p:spPr>
          <a:xfrm>
            <a:off x="-10379" y="4445000"/>
            <a:ext cx="8464695" cy="1715811"/>
          </a:xfrm>
          <a:custGeom>
            <a:avLst/>
            <a:gdLst/>
            <a:ahLst/>
            <a:cxnLst/>
            <a:rect l="l" t="t" r="r" b="b"/>
            <a:pathLst>
              <a:path w="8428428" h="1878553">
                <a:moveTo>
                  <a:pt x="0" y="438229"/>
                </a:moveTo>
                <a:lnTo>
                  <a:pt x="8343246" y="0"/>
                </a:lnTo>
                <a:lnTo>
                  <a:pt x="8428428" y="1424838"/>
                </a:lnTo>
                <a:lnTo>
                  <a:pt x="7515" y="1878553"/>
                </a:lnTo>
                <a:lnTo>
                  <a:pt x="0" y="438229"/>
                </a:lnTo>
                <a:close/>
              </a:path>
            </a:pathLst>
          </a:custGeom>
          <a:gradFill flip="none" rotWithShape="1">
            <a:gsLst>
              <a:gs pos="34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9" name="Freeform 28"/>
          <p:cNvSpPr/>
          <p:nvPr/>
        </p:nvSpPr>
        <p:spPr>
          <a:xfrm>
            <a:off x="-2864" y="0"/>
            <a:ext cx="5811235" cy="321615"/>
          </a:xfrm>
          <a:custGeom>
            <a:avLst/>
            <a:gdLst/>
            <a:ahLst/>
            <a:cxnLst/>
            <a:rect l="l" t="t" r="r" b="b"/>
            <a:pathLst>
              <a:path w="5811235" h="321615">
                <a:moveTo>
                  <a:pt x="0" y="0"/>
                </a:moveTo>
                <a:lnTo>
                  <a:pt x="5811235" y="0"/>
                </a:lnTo>
                <a:lnTo>
                  <a:pt x="1" y="321615"/>
                </a:lnTo>
                <a:cubicBezTo>
                  <a:pt x="1" y="214410"/>
                  <a:pt x="0" y="107205"/>
                  <a:pt x="0" y="0"/>
                </a:cubicBezTo>
                <a:close/>
              </a:path>
            </a:pathLst>
          </a:custGeom>
          <a:gradFill flip="none" rotWithShape="1">
            <a:gsLst>
              <a:gs pos="34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0" name="Freeform 29"/>
          <p:cNvSpPr/>
          <p:nvPr/>
        </p:nvSpPr>
        <p:spPr>
          <a:xfrm rot="21420000">
            <a:off x="-170768" y="213023"/>
            <a:ext cx="8480534" cy="5746008"/>
          </a:xfrm>
          <a:custGeom>
            <a:avLst/>
            <a:gdLst/>
            <a:ahLst/>
            <a:cxnLst/>
            <a:rect l="l" t="t" r="r" b="b"/>
            <a:pathLst>
              <a:path w="11307378" h="5746008">
                <a:moveTo>
                  <a:pt x="11270997" y="0"/>
                </a:moveTo>
                <a:lnTo>
                  <a:pt x="11307378" y="5746008"/>
                </a:lnTo>
                <a:lnTo>
                  <a:pt x="1" y="5743137"/>
                </a:lnTo>
              </a:path>
            </a:pathLst>
          </a:custGeom>
          <a:ln w="82550">
            <a:solidFill>
              <a:schemeClr val="tx1">
                <a:lumMod val="50000"/>
                <a:lumOff val="50000"/>
              </a:schemeClr>
            </a:solidFill>
            <a:miter lim="800000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 rot="21420000">
            <a:off x="451416" y="668338"/>
            <a:ext cx="7533524" cy="2766528"/>
          </a:xfrm>
        </p:spPr>
        <p:txBody>
          <a:bodyPr anchor="b">
            <a:normAutofit/>
          </a:bodyPr>
          <a:lstStyle>
            <a:lvl1pPr algn="r">
              <a:defRPr sz="7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 rot="21420000">
            <a:off x="554462" y="3446830"/>
            <a:ext cx="7512060" cy="550333"/>
          </a:xfrm>
        </p:spPr>
        <p:txBody>
          <a:bodyPr anchor="t">
            <a:noAutofit/>
          </a:bodyPr>
          <a:lstStyle>
            <a:lvl1pPr marL="0" indent="0" algn="r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 rot="21420000">
            <a:off x="3669071" y="4714242"/>
            <a:ext cx="4607740" cy="942356"/>
          </a:xfrm>
        </p:spPr>
        <p:txBody>
          <a:bodyPr/>
          <a:lstStyle>
            <a:lvl1pPr algn="ctr">
              <a:defRPr sz="42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 rot="21420000">
            <a:off x="-12134" y="4954635"/>
            <a:ext cx="2987069" cy="918361"/>
          </a:xfrm>
        </p:spPr>
        <p:txBody>
          <a:bodyPr vert="horz" lIns="91440" tIns="45720" rIns="91440" bIns="45720" rtlCol="0" anchor="ctr"/>
          <a:lstStyle>
            <a:lvl1pPr algn="r">
              <a:defRPr lang="en-US" sz="4200" dirty="0"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 rot="21420000">
            <a:off x="7401518" y="3819948"/>
            <a:ext cx="680390" cy="498470"/>
          </a:xfrm>
        </p:spPr>
        <p:txBody>
          <a:bodyPr/>
          <a:lstStyle>
            <a:lvl1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  <p:sp>
        <p:nvSpPr>
          <p:cNvPr id="33" name="5-Point Star 32"/>
          <p:cNvSpPr/>
          <p:nvPr/>
        </p:nvSpPr>
        <p:spPr>
          <a:xfrm rot="21420000">
            <a:off x="3121951" y="5057183"/>
            <a:ext cx="515386" cy="515386"/>
          </a:xfrm>
          <a:prstGeom prst="star5">
            <a:avLst>
              <a:gd name="adj" fmla="val 26693"/>
              <a:gd name="hf" fmla="val 105146"/>
              <a:gd name="vf" fmla="val 110557"/>
            </a:avLst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5882230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514351" y="2063396"/>
            <a:ext cx="7796030" cy="3311189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48953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1" y="685801"/>
            <a:ext cx="7796030" cy="3193487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4351" y="3742267"/>
            <a:ext cx="7796030" cy="1639614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9949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514351" y="685800"/>
            <a:ext cx="7797662" cy="115814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514350" y="2063396"/>
            <a:ext cx="3816536" cy="3311189"/>
          </a:xfrm>
        </p:spPr>
        <p:txBody>
          <a:bodyPr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4495478" y="2063396"/>
            <a:ext cx="3814904" cy="3311189"/>
          </a:xfrm>
        </p:spPr>
        <p:txBody>
          <a:bodyPr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2940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514351" y="685800"/>
            <a:ext cx="7796030" cy="115814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9569" y="2063396"/>
            <a:ext cx="3591317" cy="679994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6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514352" y="2861733"/>
            <a:ext cx="3816534" cy="2512852"/>
          </a:xfrm>
        </p:spPr>
        <p:txBody>
          <a:bodyPr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15340" y="2063396"/>
            <a:ext cx="3596671" cy="679994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6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4495477" y="2861733"/>
            <a:ext cx="3816535" cy="2512852"/>
          </a:xfrm>
        </p:spPr>
        <p:txBody>
          <a:bodyPr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0428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73634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8085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232" y="685800"/>
            <a:ext cx="3095145" cy="2023252"/>
          </a:xfr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3784600" y="685801"/>
            <a:ext cx="4525781" cy="4688785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232" y="2709053"/>
            <a:ext cx="3095146" cy="2665533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863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1" y="685800"/>
            <a:ext cx="4408172" cy="2023252"/>
          </a:xfr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47740" y="1"/>
            <a:ext cx="3162641" cy="5071533"/>
          </a:xfr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1" y="2709053"/>
            <a:ext cx="4408171" cy="2362481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1057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panoramiqu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106333"/>
            <a:ext cx="7796031" cy="58884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4351" y="685800"/>
            <a:ext cx="7794385" cy="3194903"/>
          </a:xfr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35" y="4702923"/>
            <a:ext cx="7796046" cy="682472"/>
          </a:xfrm>
        </p:spPr>
        <p:txBody>
          <a:bodyPr anchor="t"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25620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1" y="685801"/>
            <a:ext cx="7797677" cy="3194903"/>
          </a:xfrm>
        </p:spPr>
        <p:txBody>
          <a:bodyPr anchor="ctr">
            <a:normAutofit/>
          </a:bodyPr>
          <a:lstStyle>
            <a:lvl1pPr algn="ctr">
              <a:defRPr sz="48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35" y="4106333"/>
            <a:ext cx="7796047" cy="127360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7421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99" y="685800"/>
            <a:ext cx="7143765" cy="2916704"/>
          </a:xfrm>
        </p:spPr>
        <p:txBody>
          <a:bodyPr anchor="ctr">
            <a:normAutofit/>
          </a:bodyPr>
          <a:lstStyle>
            <a:lvl1pPr algn="ctr">
              <a:defRPr sz="48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162698" y="3610032"/>
            <a:ext cx="6500967" cy="377768"/>
          </a:xfrm>
        </p:spPr>
        <p:txBody>
          <a:bodyPr anchor="t">
            <a:normAutofit/>
          </a:bodyPr>
          <a:lstStyle>
            <a:lvl1pPr marL="0" indent="0" algn="r">
              <a:buNone/>
              <a:defRPr sz="1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1" y="4106334"/>
            <a:ext cx="7797662" cy="126825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404280" y="887850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97147" y="2906482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0339203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1" y="1723855"/>
            <a:ext cx="7796030" cy="2511835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1" y="4247468"/>
            <a:ext cx="7796030" cy="114064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9747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514351" y="685801"/>
            <a:ext cx="7796030" cy="1151965"/>
          </a:xfrm>
        </p:spPr>
        <p:txBody>
          <a:bodyPr/>
          <a:lstStyle>
            <a:lvl1pPr algn="ctr"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14352" y="2063395"/>
            <a:ext cx="248259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514352" y="2639658"/>
            <a:ext cx="2482596" cy="273492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175967" y="2063395"/>
            <a:ext cx="248259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175966" y="2639658"/>
            <a:ext cx="2482596" cy="273492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27785" y="2063395"/>
            <a:ext cx="248259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827785" y="2639658"/>
            <a:ext cx="2482596" cy="273492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08107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 d’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514351" y="685801"/>
            <a:ext cx="7797662" cy="1151965"/>
          </a:xfrm>
        </p:spPr>
        <p:txBody>
          <a:bodyPr/>
          <a:lstStyle>
            <a:lvl1pPr algn="ctr"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518880" y="3813025"/>
            <a:ext cx="248259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2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514335" y="2063396"/>
            <a:ext cx="2482596" cy="1536725"/>
          </a:xfrm>
          <a:prstGeom prst="roundRect">
            <a:avLst>
              <a:gd name="adj" fmla="val 0"/>
            </a:avLst>
          </a:prstGeo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518880" y="4389288"/>
            <a:ext cx="2482596" cy="98529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178058" y="3813025"/>
            <a:ext cx="248259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2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176999" y="2063396"/>
            <a:ext cx="2482596" cy="1535237"/>
          </a:xfrm>
          <a:prstGeom prst="roundRect">
            <a:avLst>
              <a:gd name="adj" fmla="val 0"/>
            </a:avLst>
          </a:prstGeo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176998" y="4389286"/>
            <a:ext cx="2483655" cy="98530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26708" y="3813025"/>
            <a:ext cx="248259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2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826614" y="2063394"/>
            <a:ext cx="2482596" cy="1537196"/>
          </a:xfrm>
          <a:prstGeom prst="roundRect">
            <a:avLst>
              <a:gd name="adj" fmla="val 0"/>
            </a:avLst>
          </a:prstGeo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826614" y="4389284"/>
            <a:ext cx="2482596" cy="985302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622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514351" y="2063396"/>
            <a:ext cx="7796030" cy="3311190"/>
          </a:xfrm>
        </p:spPr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850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11896" y="685801"/>
            <a:ext cx="1698485" cy="4688785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514351" y="685801"/>
            <a:ext cx="5928323" cy="4688785"/>
          </a:xfrm>
        </p:spPr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30432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2519D4-37A8-76F9-5B64-FDEB9A71C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FB4FBF1-1224-E578-697D-5FA00FBC90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5B375EB-644D-9B51-90A3-5DF7CC0C45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41C4334-E25B-17F3-98D0-3D69571E7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E3750D2-1A8B-743D-1E97-EDFD083D3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4206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Brickwork-SD-R1acrop.jpg"/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grpSp>
        <p:nvGrpSpPr>
          <p:cNvPr id="10" name="Group 9"/>
          <p:cNvGrpSpPr/>
          <p:nvPr/>
        </p:nvGrpSpPr>
        <p:grpSpPr>
          <a:xfrm>
            <a:off x="-19048" y="1"/>
            <a:ext cx="9004013" cy="6644081"/>
            <a:chOff x="-25397" y="0"/>
            <a:chExt cx="12005350" cy="6644081"/>
          </a:xfrm>
        </p:grpSpPr>
        <p:sp useBgFill="1">
          <p:nvSpPr>
            <p:cNvPr id="11" name="Rectangle 10"/>
            <p:cNvSpPr/>
            <p:nvPr/>
          </p:nvSpPr>
          <p:spPr>
            <a:xfrm>
              <a:off x="1" y="0"/>
              <a:ext cx="11979952" cy="6644081"/>
            </a:xfrm>
            <a:prstGeom prst="rect">
              <a:avLst/>
            </a:prstGeom>
            <a:ln>
              <a:noFill/>
            </a:ln>
            <a:effectLst>
              <a:outerShdw blurRad="98425" dist="76200" dir="4380000" algn="tl" rotWithShape="0">
                <a:srgbClr val="000000">
                  <a:alpha val="6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Rectangle 12"/>
            <p:cNvSpPr/>
            <p:nvPr/>
          </p:nvSpPr>
          <p:spPr>
            <a:xfrm>
              <a:off x="1" y="5600215"/>
              <a:ext cx="11706512" cy="780581"/>
            </a:xfrm>
            <a:prstGeom prst="rect">
              <a:avLst/>
            </a:prstGeom>
            <a:gradFill flip="none" rotWithShape="1">
              <a:gsLst>
                <a:gs pos="34000">
                  <a:schemeClr val="accent1"/>
                </a:gs>
                <a:gs pos="100000">
                  <a:schemeClr val="accent1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>
            <a:xfrm>
              <a:off x="-25397" y="0"/>
              <a:ext cx="11773291" cy="6419514"/>
            </a:xfrm>
            <a:custGeom>
              <a:avLst/>
              <a:gdLst/>
              <a:ahLst/>
              <a:cxnLst/>
              <a:rect l="l" t="t" r="r" b="b"/>
              <a:pathLst>
                <a:path w="11773291" h="6419514">
                  <a:moveTo>
                    <a:pt x="11750059" y="0"/>
                  </a:moveTo>
                  <a:lnTo>
                    <a:pt x="11773291" y="6419514"/>
                  </a:lnTo>
                  <a:lnTo>
                    <a:pt x="0" y="6411047"/>
                  </a:lnTo>
                </a:path>
              </a:pathLst>
            </a:custGeom>
            <a:ln w="82550">
              <a:solidFill>
                <a:schemeClr val="tx1">
                  <a:lumMod val="50000"/>
                  <a:lumOff val="50000"/>
                </a:schemeClr>
              </a:solidFill>
              <a:miter lim="800000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4351" y="685801"/>
            <a:ext cx="7797662" cy="115196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4351" y="2063396"/>
            <a:ext cx="7797662" cy="33111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73562" y="5757334"/>
            <a:ext cx="2838450" cy="4984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0" cap="all"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4351" y="5757334"/>
            <a:ext cx="4124789" cy="4984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00" cap="all"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715341" y="5757334"/>
            <a:ext cx="680390" cy="4984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00" cap="all"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162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  <p:sldLayoutId id="2147483702" r:id="rId13"/>
    <p:sldLayoutId id="2147483703" r:id="rId14"/>
    <p:sldLayoutId id="2147483704" r:id="rId15"/>
    <p:sldLayoutId id="2147483705" r:id="rId16"/>
    <p:sldLayoutId id="2147483706" r:id="rId17"/>
    <p:sldLayoutId id="214748370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accent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vFxJ0kT0aP4" TargetMode="Externa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95528" y="187450"/>
            <a:ext cx="7251192" cy="2063497"/>
          </a:xfrm>
        </p:spPr>
        <p:txBody>
          <a:bodyPr>
            <a:normAutofit/>
          </a:bodyPr>
          <a:lstStyle/>
          <a:p>
            <a:r>
              <a:rPr sz="4000" dirty="0" err="1"/>
              <a:t>Énigme</a:t>
            </a:r>
            <a:r>
              <a:rPr sz="4000" dirty="0"/>
              <a:t> escape </a:t>
            </a:r>
            <a:r>
              <a:rPr sz="4000" dirty="0" err="1"/>
              <a:t>roo</a:t>
            </a:r>
            <a:r>
              <a:rPr lang="fr-CA" sz="4000" dirty="0"/>
              <a:t>m</a:t>
            </a:r>
            <a:endParaRPr sz="40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45920" y="2250950"/>
            <a:ext cx="6400800" cy="2356104"/>
          </a:xfrm>
        </p:spPr>
        <p:txBody>
          <a:bodyPr>
            <a:normAutofit/>
          </a:bodyPr>
          <a:lstStyle/>
          <a:p>
            <a:r>
              <a:rPr lang="fr-CA" sz="2800" dirty="0"/>
              <a:t>Xavier Desroches</a:t>
            </a:r>
            <a:endParaRPr sz="2800" dirty="0"/>
          </a:p>
          <a:p>
            <a:r>
              <a:rPr sz="2800" dirty="0" err="1"/>
              <a:t>Objet</a:t>
            </a:r>
            <a:r>
              <a:rPr sz="2800" dirty="0"/>
              <a:t> </a:t>
            </a:r>
            <a:r>
              <a:rPr sz="2800" dirty="0" err="1"/>
              <a:t>connecté</a:t>
            </a:r>
            <a:endParaRPr sz="2800" dirty="0"/>
          </a:p>
          <a:p>
            <a:r>
              <a:rPr sz="2800" dirty="0"/>
              <a:t>ESP32 (ESP-IDF)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sz="4000" dirty="0" err="1"/>
              <a:t>Scénario</a:t>
            </a:r>
            <a:r>
              <a:rPr lang="fr-CA" sz="4000" dirty="0"/>
              <a:t> et </a:t>
            </a:r>
            <a:r>
              <a:rPr lang="fr-FR" sz="4000" dirty="0"/>
              <a:t>Rôle de l’énigme </a:t>
            </a:r>
            <a:endParaRPr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4351" y="1115747"/>
            <a:ext cx="7797662" cy="390448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fr-FR" sz="1300" cap="none" dirty="0">
                <a:latin typeface="Arial" panose="020B0604020202020204" pitchFamily="34" charset="0"/>
                <a:cs typeface="Arial" panose="020B0604020202020204" pitchFamily="34" charset="0"/>
              </a:rPr>
              <a:t>Dans un laboratoire clandestin, un coffre renferme l’antidote dont l’équipe a besoin pour s’échapper. </a:t>
            </a:r>
          </a:p>
          <a:p>
            <a:pPr marL="0" indent="0">
              <a:buNone/>
            </a:pPr>
            <a:r>
              <a:rPr lang="fr-FR" sz="1300" cap="none" dirty="0">
                <a:latin typeface="Arial" panose="020B0604020202020204" pitchFamily="34" charset="0"/>
                <a:cs typeface="Arial" panose="020B0604020202020204" pitchFamily="34" charset="0"/>
              </a:rPr>
              <a:t>Le carnet du scientifique décrit une serrure électronique angulaire : seuls trois angles précis, entrés dans le bon ordre, déverrouillent le mécanisme. Une console reliée au coffre (écran LCD et buzzer) sert d’interface : le joystick permet une rotation 360°, le buzzer accélère quand on se rapproche de l’angle cible, et le LCD affiche l’étape et les indices. </a:t>
            </a:r>
          </a:p>
          <a:p>
            <a:pPr marL="0" indent="0">
              <a:buNone/>
            </a:pPr>
            <a:r>
              <a:rPr lang="fr-FR" sz="1300" cap="none" dirty="0">
                <a:latin typeface="Arial" panose="020B0604020202020204" pitchFamily="34" charset="0"/>
                <a:cs typeface="Arial" panose="020B0604020202020204" pitchFamily="34" charset="0"/>
              </a:rPr>
              <a:t>Le joueur valide chaque angle en enfonçant le joystick.</a:t>
            </a:r>
            <a:br>
              <a:rPr lang="fr-FR" sz="1300" cap="none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fr-FR" sz="1300" cap="none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fr-FR" sz="1300" cap="none" dirty="0">
                <a:latin typeface="Arial" panose="020B0604020202020204" pitchFamily="34" charset="0"/>
                <a:cs typeface="Arial" panose="020B0604020202020204" pitchFamily="34" charset="0"/>
              </a:rPr>
              <a:t>Rôle dans l’expérience : cette énigme ouvre le coffre contenant l’antidote, étape clé pour progresser vers la sortie.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2865E0-C166-F406-18AB-7F516588B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A" sz="4000" dirty="0"/>
              <a:t>Schéma du circuit électronique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59E04CFE-1B5A-0833-A2A8-9FAB9C5989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4726" y="1577769"/>
            <a:ext cx="6638544" cy="3903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7546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2DE9D11-6108-9346-3BAA-9F114F207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Explications DU fonctionnement.</a:t>
            </a:r>
            <a:endParaRPr lang="fr-CA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20C8ABED-2D56-42FF-52F8-344DEA2A51E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14352" y="1904013"/>
            <a:ext cx="7797661" cy="34932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fr-FR" altLang="fr-FR" sz="13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Détection </a:t>
            </a:r>
            <a:r>
              <a:rPr lang="fr-FR" altLang="fr-FR" sz="1300" b="1" cap="none" dirty="0">
                <a:latin typeface="Arial" panose="020B0604020202020204" pitchFamily="34" charset="0"/>
              </a:rPr>
              <a:t>par</a:t>
            </a:r>
            <a:r>
              <a:rPr kumimoji="0" lang="fr-FR" altLang="fr-FR" sz="13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le joystick</a:t>
            </a: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 joystick analogique envoie deux valeurs (axe X et Y) lues par les entrées analogiques de l’ESP32.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Une pression sur le bouton du joystick (entrée numérique) sert à valider la sélection.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 microcontrôleur interprète ces signaux pour savoir quelle direction le joueur a choisie.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fr-FR" altLang="fr-FR" sz="13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Traitement par l’ESP32</a:t>
            </a: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L’ESP32 compare la séquence entrée par le joueur avec le code attendu.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 la combinaison est correcte, il déclenche la séquence de réussite : </a:t>
            </a:r>
            <a:r>
              <a:rPr lang="fr-FR" altLang="fr-FR" sz="1300" cap="none" dirty="0">
                <a:latin typeface="Arial" panose="020B0604020202020204" pitchFamily="34" charset="0"/>
              </a:rPr>
              <a:t>la LED verte s’allume brièvement </a:t>
            </a: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et un son court du buzzer. Sinon la LED rouge s’allume brièvement et un bip d’erreur est émis.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fr-FR" altLang="fr-FR" sz="1300" cap="none" dirty="0">
                <a:latin typeface="Arial" panose="020B0604020202020204" pitchFamily="34" charset="0"/>
              </a:rPr>
              <a:t>Ensuite après trois validations réussies, la séquence de victoire s’active ce qui affiche un message sur l’écran, allume la lumière verte et fait une petite musique avec le buzzer.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kumimoji="0" lang="fr-FR" altLang="fr-FR" sz="1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fr-FR" altLang="fr-FR" sz="1300" cap="none" dirty="0">
                <a:latin typeface="Arial" panose="020B0604020202020204" pitchFamily="34" charset="0"/>
              </a:rPr>
              <a:t>Si on ne réussi pas, la séquence de défaite s’active ce qui affiche un message sur l’écran de défaite, allume la lumière rouge et fait une petite musique avec le buzzer.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fr-FR" altLang="fr-FR" sz="1300" cap="none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kumimoji="0" lang="fr-FR" altLang="fr-FR" sz="13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Finalement, le jeu se réinitialise et on peut réessayer.</a:t>
            </a:r>
          </a:p>
        </p:txBody>
      </p:sp>
    </p:spTree>
    <p:extLst>
      <p:ext uri="{BB962C8B-B14F-4D97-AF65-F5344CB8AC3E}">
        <p14:creationId xmlns:p14="http://schemas.microsoft.com/office/powerpoint/2010/main" val="16483678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4000" dirty="0" err="1"/>
              <a:t>Capteurs</a:t>
            </a:r>
            <a:r>
              <a:rPr sz="4000" dirty="0"/>
              <a:t> &amp; </a:t>
            </a:r>
            <a:r>
              <a:rPr sz="4000" dirty="0" err="1"/>
              <a:t>actionneurs</a:t>
            </a:r>
            <a:endParaRPr sz="40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F06863-A6F2-E3E8-4AB9-CF7E5185986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14351" y="2096595"/>
            <a:ext cx="7797662" cy="2893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kumimoji="0" lang="fr-FR" altLang="fr-FR" sz="1300" b="1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Joystick</a:t>
            </a:r>
            <a:r>
              <a:rPr kumimoji="0" lang="fr-FR" altLang="fr-FR" sz="130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: </a:t>
            </a:r>
            <a:r>
              <a:rPr lang="fr-FR" sz="1300" cap="none" dirty="0">
                <a:latin typeface="Arial" panose="020B0604020202020204" pitchFamily="34" charset="0"/>
                <a:cs typeface="Arial" panose="020B0604020202020204" pitchFamily="34" charset="0"/>
              </a:rPr>
              <a:t>Sert d’interface principale pour la saisie et la navigation dans le cadenas interactif.</a:t>
            </a:r>
            <a:r>
              <a:rPr lang="fr-FR" altLang="fr-FR" sz="1300" cap="none" dirty="0"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fr-FR" altLang="fr-FR" sz="1300" cap="none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fr-FR" altLang="fr-FR" sz="1300" b="1" cap="none" dirty="0">
                <a:latin typeface="Arial" panose="020B0604020202020204" pitchFamily="34" charset="0"/>
                <a:cs typeface="Arial" panose="020B0604020202020204" pitchFamily="34" charset="0"/>
              </a:rPr>
              <a:t>J</a:t>
            </a:r>
            <a:r>
              <a:rPr kumimoji="0" lang="fr-FR" altLang="fr-FR" sz="1300" b="1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ustification</a:t>
            </a:r>
            <a:r>
              <a:rPr kumimoji="0" lang="fr-FR" altLang="fr-FR" sz="130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: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fr-FR" sz="1300" b="1" cap="none" dirty="0">
                <a:latin typeface="Arial" panose="020B0604020202020204" pitchFamily="34" charset="0"/>
              </a:rPr>
              <a:t>Contrôle fin et précis :</a:t>
            </a:r>
            <a:r>
              <a:rPr lang="fr-FR" sz="1300" cap="none" dirty="0">
                <a:latin typeface="Arial" panose="020B0604020202020204" pitchFamily="34" charset="0"/>
              </a:rPr>
              <a:t> Le joystick permet de sélectionner des directions avec une grande sensibilité, ce qui rajoute aussi une petite difficulté.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kumimoji="0" lang="fr-FR" altLang="fr-FR" sz="130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fr-FR" sz="1300" b="1" cap="none" dirty="0">
                <a:latin typeface="Arial" panose="020B0604020202020204" pitchFamily="34" charset="0"/>
              </a:rPr>
              <a:t>Interface intuitive :</a:t>
            </a:r>
            <a:r>
              <a:rPr lang="fr-FR" sz="1300" cap="none" dirty="0">
                <a:latin typeface="Arial" panose="020B0604020202020204" pitchFamily="34" charset="0"/>
              </a:rPr>
              <a:t> Le mouvement multidirectionnel est naturel et familier (comme une manette). L’utilisateur comprend rapidement comment interagir sans apprentissage complexe.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fr-FR" sz="1300" cap="none" dirty="0"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fr-FR" sz="1300" b="1" cap="none" dirty="0">
                <a:latin typeface="Arial" panose="020B0604020202020204" pitchFamily="34" charset="0"/>
              </a:rPr>
              <a:t>Sensation mécanique de cadenas :</a:t>
            </a:r>
            <a:r>
              <a:rPr lang="fr-FR" sz="1300" cap="none" dirty="0">
                <a:latin typeface="Arial" panose="020B0604020202020204" pitchFamily="34" charset="0"/>
              </a:rPr>
              <a:t> Le mouvement rotatif ressemble à cadenas traditionnel, renforçant l’immersion.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kumimoji="0" lang="fr-FR" altLang="fr-FR" sz="130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fr-FR" sz="1300" b="1" cap="none" dirty="0">
                <a:latin typeface="Arial" panose="020B0604020202020204" pitchFamily="34" charset="0"/>
              </a:rPr>
              <a:t>Validation intégrée :</a:t>
            </a:r>
            <a:r>
              <a:rPr lang="fr-FR" sz="1300" cap="none" dirty="0">
                <a:latin typeface="Arial" panose="020B0604020202020204" pitchFamily="34" charset="0"/>
              </a:rPr>
              <a:t> Le bouton-poussoir central du joystick simplifie la conception en combinant navigation et confirmation dans un seul dispositif.</a:t>
            </a:r>
            <a:endParaRPr kumimoji="0" lang="fr-FR" altLang="fr-FR" sz="130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5325C-A4BF-66D8-080F-4A9D6E113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A5000-60E2-C450-6E89-CA3276A0A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4000" dirty="0" err="1"/>
              <a:t>Capteurs</a:t>
            </a:r>
            <a:r>
              <a:rPr sz="4000" dirty="0"/>
              <a:t> &amp; </a:t>
            </a:r>
            <a:r>
              <a:rPr sz="4000" dirty="0" err="1"/>
              <a:t>actionneurs</a:t>
            </a:r>
            <a:endParaRPr sz="40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65897FC-9258-631E-A48B-ECF7EA31E74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14351" y="2396673"/>
            <a:ext cx="7797662" cy="22929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fr-FR" altLang="fr-FR" sz="1300" b="1" cap="none" dirty="0">
                <a:latin typeface="Arial" panose="020B0604020202020204" pitchFamily="34" charset="0"/>
                <a:cs typeface="Arial" panose="020B0604020202020204" pitchFamily="34" charset="0"/>
              </a:rPr>
              <a:t>Écran LCD 16×2 I²C</a:t>
            </a:r>
            <a:r>
              <a:rPr lang="fr-FR" altLang="fr-FR" sz="1300" cap="none" dirty="0">
                <a:latin typeface="Arial" panose="020B0604020202020204" pitchFamily="34" charset="0"/>
                <a:cs typeface="Arial" panose="020B0604020202020204" pitchFamily="34" charset="0"/>
              </a:rPr>
              <a:t> : </a:t>
            </a:r>
            <a:r>
              <a:rPr lang="fr-FR" sz="1300" cap="none" dirty="0">
                <a:latin typeface="Arial" panose="020B0604020202020204" pitchFamily="34" charset="0"/>
                <a:cs typeface="Arial" panose="020B0604020202020204" pitchFamily="34" charset="0"/>
              </a:rPr>
              <a:t>Fournit le retour visuel principal (étapes, tentatives, codes, messages).</a:t>
            </a:r>
            <a:endParaRPr lang="fr-FR" altLang="fr-FR" sz="1300" cap="none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fr-FR" altLang="fr-FR" sz="1300" cap="none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fr-FR" altLang="fr-FR" sz="1300" b="1" cap="none" dirty="0">
                <a:latin typeface="Arial" panose="020B0604020202020204" pitchFamily="34" charset="0"/>
                <a:cs typeface="Arial" panose="020B0604020202020204" pitchFamily="34" charset="0"/>
              </a:rPr>
              <a:t>Justification</a:t>
            </a:r>
            <a:r>
              <a:rPr lang="fr-FR" altLang="fr-FR" sz="1300" cap="none" dirty="0">
                <a:latin typeface="Arial" panose="020B0604020202020204" pitchFamily="34" charset="0"/>
                <a:cs typeface="Arial" panose="020B0604020202020204" pitchFamily="34" charset="0"/>
              </a:rPr>
              <a:t> :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fr-FR" altLang="fr-FR" sz="1300" b="1" cap="none" dirty="0">
                <a:latin typeface="Arial" panose="020B0604020202020204" pitchFamily="34" charset="0"/>
              </a:rPr>
              <a:t>Affichage clair et structuré :</a:t>
            </a:r>
            <a:r>
              <a:rPr lang="fr-FR" altLang="fr-FR" sz="1300" cap="none" dirty="0">
                <a:latin typeface="Arial" panose="020B0604020202020204" pitchFamily="34" charset="0"/>
              </a:rPr>
              <a:t> Deux lignes permettent de séparer les informations importantes (ex. : ligne 1 = étape/cible, ligne 2 = feedback).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lang="fr-FR" altLang="fr-FR" sz="1300" cap="none" dirty="0"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fr-FR" altLang="fr-FR" sz="1300" b="1" cap="none" dirty="0">
                <a:latin typeface="Arial" panose="020B0604020202020204" pitchFamily="34" charset="0"/>
              </a:rPr>
              <a:t>Lisibilité et esthétique :</a:t>
            </a:r>
            <a:r>
              <a:rPr lang="fr-FR" altLang="fr-FR" sz="1300" cap="none" dirty="0">
                <a:latin typeface="Arial" panose="020B0604020202020204" pitchFamily="34" charset="0"/>
              </a:rPr>
              <a:t> L’affichage rétroéclairé rend l’appareil lisible en environnement sombre                                           et ressemble à un appareil de laboratoire ou un dispositif de sécurité professionnel.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lang="fr-FR" altLang="fr-FR" sz="1300" b="1" cap="none" dirty="0"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fr-FR" altLang="fr-FR" sz="1300" b="1" cap="none" dirty="0">
                <a:latin typeface="Arial" panose="020B0604020202020204" pitchFamily="34" charset="0"/>
              </a:rPr>
              <a:t>Feedback instantané :</a:t>
            </a:r>
            <a:r>
              <a:rPr lang="fr-FR" altLang="fr-FR" sz="1300" cap="none" dirty="0">
                <a:latin typeface="Arial" panose="020B0604020202020204" pitchFamily="34" charset="0"/>
              </a:rPr>
              <a:t> L’utilisateur visualise immédiatement ses progrès ou ses erreurs sans     devoir consulter un autre écran.</a:t>
            </a:r>
          </a:p>
        </p:txBody>
      </p:sp>
    </p:spTree>
    <p:extLst>
      <p:ext uri="{BB962C8B-B14F-4D97-AF65-F5344CB8AC3E}">
        <p14:creationId xmlns:p14="http://schemas.microsoft.com/office/powerpoint/2010/main" val="1796256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11B08D-7CDB-FC5C-D1C6-B959AD14C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D509A-F2AA-EBF7-0033-DE54CFCC2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4000" dirty="0" err="1"/>
              <a:t>Capteurs</a:t>
            </a:r>
            <a:r>
              <a:rPr sz="4000" dirty="0"/>
              <a:t> &amp; </a:t>
            </a:r>
            <a:r>
              <a:rPr sz="4000" dirty="0" err="1"/>
              <a:t>actionneurs</a:t>
            </a:r>
            <a:endParaRPr sz="40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7CD8FC6-C6B6-F9F7-5711-3BF5A508713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14351" y="2396676"/>
            <a:ext cx="7797662" cy="22929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fr-FR" altLang="fr-FR" sz="1300" b="1" cap="none" dirty="0">
                <a:latin typeface="Arial" panose="020B0604020202020204" pitchFamily="34" charset="0"/>
              </a:rPr>
              <a:t>Buzzer </a:t>
            </a:r>
            <a:r>
              <a:rPr lang="fr-FR" altLang="fr-FR" sz="1300" b="1" cap="none" dirty="0" err="1">
                <a:latin typeface="Arial" panose="020B0604020202020204" pitchFamily="34" charset="0"/>
              </a:rPr>
              <a:t>piezo</a:t>
            </a:r>
            <a:r>
              <a:rPr lang="fr-FR" altLang="fr-FR" sz="1300" b="1" cap="none" dirty="0">
                <a:latin typeface="Arial" panose="020B0604020202020204" pitchFamily="34" charset="0"/>
              </a:rPr>
              <a:t> </a:t>
            </a:r>
            <a:r>
              <a:rPr lang="fr-FR" sz="1300" b="1" cap="none" dirty="0">
                <a:latin typeface="Arial" panose="020B0604020202020204" pitchFamily="34" charset="0"/>
              </a:rPr>
              <a:t>:</a:t>
            </a:r>
            <a:r>
              <a:rPr lang="fr-FR" sz="1300" cap="none" dirty="0">
                <a:latin typeface="Arial" panose="020B0604020202020204" pitchFamily="34" charset="0"/>
              </a:rPr>
              <a:t> Fournit un retour sonore selon la distance à la solution, les erreurs, et la fin de partie.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fr-FR" altLang="fr-FR" sz="1300" cap="none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fr-FR" altLang="fr-FR" sz="1300" b="1" cap="none" dirty="0">
                <a:latin typeface="Arial" panose="020B0604020202020204" pitchFamily="34" charset="0"/>
                <a:cs typeface="Arial" panose="020B0604020202020204" pitchFamily="34" charset="0"/>
              </a:rPr>
              <a:t>Justification</a:t>
            </a:r>
            <a:r>
              <a:rPr lang="fr-FR" altLang="fr-FR" sz="1300" cap="none" dirty="0">
                <a:latin typeface="Arial" panose="020B0604020202020204" pitchFamily="34" charset="0"/>
                <a:cs typeface="Arial" panose="020B0604020202020204" pitchFamily="34" charset="0"/>
              </a:rPr>
              <a:t> :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fr-FR" altLang="fr-FR" sz="1300" b="1" cap="none" dirty="0">
                <a:latin typeface="Arial" panose="020B0604020202020204" pitchFamily="34" charset="0"/>
              </a:rPr>
              <a:t>Feedback immédiat et intuitif : </a:t>
            </a:r>
            <a:r>
              <a:rPr lang="fr-FR" altLang="fr-FR" sz="1300" cap="none" dirty="0">
                <a:latin typeface="Arial" panose="020B0604020202020204" pitchFamily="34" charset="0"/>
              </a:rPr>
              <a:t>Les sons guident l’utilisateur sans qu’il ait besoin de détourner les yeux du dispositif (utile dans un escape </a:t>
            </a:r>
            <a:r>
              <a:rPr lang="fr-FR" altLang="fr-FR" sz="1300" cap="none" dirty="0" err="1">
                <a:latin typeface="Arial" panose="020B0604020202020204" pitchFamily="34" charset="0"/>
              </a:rPr>
              <a:t>game</a:t>
            </a:r>
            <a:r>
              <a:rPr lang="fr-FR" altLang="fr-FR" sz="1300" cap="none" dirty="0">
                <a:latin typeface="Arial" panose="020B0604020202020204" pitchFamily="34" charset="0"/>
              </a:rPr>
              <a:t>).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lang="fr-FR" altLang="fr-FR" sz="1300" cap="none" dirty="0"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fr-FR" altLang="fr-FR" sz="1300" b="1" cap="none" dirty="0">
                <a:latin typeface="Arial" panose="020B0604020202020204" pitchFamily="34" charset="0"/>
              </a:rPr>
              <a:t>Langage sonore simple : </a:t>
            </a:r>
            <a:r>
              <a:rPr lang="fr-FR" altLang="fr-FR" sz="1300" cap="none" dirty="0">
                <a:latin typeface="Arial" panose="020B0604020202020204" pitchFamily="34" charset="0"/>
              </a:rPr>
              <a:t>Différentes tonalités peuvent signaler la réussite, l’erreur, ou la proximité d’un bon code, ce qui rend le jeu plus stimulant et intéressant.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lang="fr-FR" altLang="fr-FR" sz="1300" b="1" cap="none" dirty="0"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fr-FR" altLang="fr-FR" sz="1300" b="1" cap="none" dirty="0">
                <a:latin typeface="Arial" panose="020B0604020202020204" pitchFamily="34" charset="0"/>
              </a:rPr>
              <a:t>Consommation minimale : </a:t>
            </a:r>
            <a:r>
              <a:rPr lang="fr-FR" altLang="fr-FR" sz="1300" cap="none" dirty="0">
                <a:latin typeface="Arial" panose="020B0604020202020204" pitchFamily="34" charset="0"/>
              </a:rPr>
              <a:t>Le buzzer </a:t>
            </a:r>
            <a:r>
              <a:rPr lang="fr-FR" altLang="fr-FR" sz="1300" cap="none" dirty="0" err="1">
                <a:latin typeface="Arial" panose="020B0604020202020204" pitchFamily="34" charset="0"/>
              </a:rPr>
              <a:t>piézo</a:t>
            </a:r>
            <a:r>
              <a:rPr lang="fr-FR" altLang="fr-FR" sz="1300" cap="none" dirty="0">
                <a:latin typeface="Arial" panose="020B0604020202020204" pitchFamily="34" charset="0"/>
              </a:rPr>
              <a:t> est économe en énergie, compact et facile à piloter via PWM ou signal digital simple.</a:t>
            </a:r>
          </a:p>
        </p:txBody>
      </p:sp>
    </p:spTree>
    <p:extLst>
      <p:ext uri="{BB962C8B-B14F-4D97-AF65-F5344CB8AC3E}">
        <p14:creationId xmlns:p14="http://schemas.microsoft.com/office/powerpoint/2010/main" val="11027677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445E1-87F4-C521-F916-2C6CE0100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13E19-E259-E21A-DCFE-C5EC7BC8D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4000" dirty="0" err="1"/>
              <a:t>Capteurs</a:t>
            </a:r>
            <a:r>
              <a:rPr sz="4000" dirty="0"/>
              <a:t> &amp; </a:t>
            </a:r>
            <a:r>
              <a:rPr sz="4000" dirty="0" err="1"/>
              <a:t>actionneurs</a:t>
            </a:r>
            <a:endParaRPr sz="40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A04C9DC8-0C95-106F-1055-28A13F88399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14351" y="2196619"/>
            <a:ext cx="7797662" cy="2693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fr-FR" altLang="fr-FR" sz="1300" b="1" cap="none" dirty="0">
                <a:latin typeface="Arial" panose="020B0604020202020204" pitchFamily="34" charset="0"/>
              </a:rPr>
              <a:t>LED verte / rouge (actionneurs visuels) : </a:t>
            </a:r>
            <a:r>
              <a:rPr lang="fr-FR" altLang="fr-FR" sz="1300" cap="none" dirty="0">
                <a:latin typeface="Arial" panose="020B0604020202020204" pitchFamily="34" charset="0"/>
              </a:rPr>
              <a:t>Fournir un retour visuel immédiat pour la validation des actions.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fr-FR" altLang="fr-FR" sz="1300" cap="none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fr-FR" altLang="fr-FR" sz="1300" b="1" cap="none" dirty="0">
                <a:latin typeface="Arial" panose="020B0604020202020204" pitchFamily="34" charset="0"/>
                <a:cs typeface="Arial" panose="020B0604020202020204" pitchFamily="34" charset="0"/>
              </a:rPr>
              <a:t>Justification</a:t>
            </a:r>
            <a:r>
              <a:rPr lang="fr-FR" altLang="fr-FR" sz="1300" cap="none" dirty="0">
                <a:latin typeface="Arial" panose="020B0604020202020204" pitchFamily="34" charset="0"/>
                <a:cs typeface="Arial" panose="020B0604020202020204" pitchFamily="34" charset="0"/>
              </a:rPr>
              <a:t> :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fr-FR" altLang="fr-FR" sz="1300" b="1" cap="none" dirty="0">
                <a:latin typeface="Arial" panose="020B0604020202020204" pitchFamily="34" charset="0"/>
              </a:rPr>
              <a:t>Lecture instantanée : </a:t>
            </a:r>
            <a:r>
              <a:rPr lang="fr-FR" altLang="fr-FR" sz="1300" cap="none" dirty="0">
                <a:latin typeface="Arial" panose="020B0604020202020204" pitchFamily="34" charset="0"/>
              </a:rPr>
              <a:t>Le code couleur universel (vert = succès, rouge = erreur) est compris instantanément, sans explication.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lang="fr-FR" altLang="fr-FR" sz="1300" cap="none" dirty="0"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fr-FR" altLang="fr-FR" sz="1300" b="1" cap="none" dirty="0">
                <a:latin typeface="Arial" panose="020B0604020202020204" pitchFamily="34" charset="0"/>
              </a:rPr>
              <a:t>Complémentaire : </a:t>
            </a:r>
            <a:r>
              <a:rPr lang="fr-FR" altLang="fr-FR" sz="1300" cap="none" dirty="0">
                <a:latin typeface="Arial" panose="020B0604020202020204" pitchFamily="34" charset="0"/>
              </a:rPr>
              <a:t>Les LED complètent le buzzer et l’écran pour offrir une expérience cohérente.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lang="fr-FR" altLang="fr-FR" sz="1300" b="1" cap="none" dirty="0"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fr-FR" altLang="fr-FR" sz="1300" b="1" cap="none" dirty="0">
                <a:latin typeface="Arial" panose="020B0604020202020204" pitchFamily="34" charset="0"/>
              </a:rPr>
              <a:t>Simplicité et fiabilité : </a:t>
            </a:r>
            <a:r>
              <a:rPr lang="fr-FR" altLang="fr-FR" sz="1300" cap="none" dirty="0">
                <a:latin typeface="Arial" panose="020B0604020202020204" pitchFamily="34" charset="0"/>
              </a:rPr>
              <a:t>Faciles à intégrer et très réactives, elles assurent un retour visuel même si le LCD est temporairement indisponible.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fr-FR" altLang="fr-FR" sz="1300" b="1" cap="none" dirty="0"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fr-FR" sz="1300" b="1" cap="none" dirty="0">
                <a:latin typeface="Arial" panose="020B0604020202020204" pitchFamily="34" charset="0"/>
              </a:rPr>
              <a:t>Esthétique cohérente :</a:t>
            </a:r>
            <a:r>
              <a:rPr lang="fr-FR" sz="1300" cap="none" dirty="0">
                <a:latin typeface="Arial" panose="020B0604020202020204" pitchFamily="34" charset="0"/>
              </a:rPr>
              <a:t> Elles peuvent ressembler à des voyants de dispositifs de sécurité.</a:t>
            </a:r>
            <a:endParaRPr lang="fr-FR" altLang="fr-FR" sz="1300" b="1" cap="none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44174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C570C-23C5-EBD3-983C-09F57E1C5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CEFC4-E311-FE58-A2BF-A2B74E55D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4000" dirty="0" err="1"/>
              <a:t>Capteurs</a:t>
            </a:r>
            <a:r>
              <a:rPr sz="4000" dirty="0"/>
              <a:t> &amp; </a:t>
            </a:r>
            <a:r>
              <a:rPr sz="4000" dirty="0" err="1"/>
              <a:t>actionneurs</a:t>
            </a:r>
            <a:endParaRPr sz="40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658BB378-7D5B-5877-60D7-3CB8533A60F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14351" y="2596729"/>
            <a:ext cx="7797662" cy="18928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fr-FR" altLang="fr-FR" sz="1300" b="1" cap="none" dirty="0">
                <a:latin typeface="Arial" panose="020B0604020202020204" pitchFamily="34" charset="0"/>
              </a:rPr>
              <a:t>ESP32 </a:t>
            </a:r>
            <a:r>
              <a:rPr lang="fr-FR" altLang="fr-FR" sz="1300" b="1" cap="none" dirty="0" err="1">
                <a:latin typeface="Arial" panose="020B0604020202020204" pitchFamily="34" charset="0"/>
              </a:rPr>
              <a:t>DevKit</a:t>
            </a:r>
            <a:r>
              <a:rPr lang="fr-FR" altLang="fr-FR" sz="1300" cap="none" dirty="0">
                <a:latin typeface="Arial" panose="020B0604020202020204" pitchFamily="34" charset="0"/>
              </a:rPr>
              <a:t> </a:t>
            </a:r>
            <a:r>
              <a:rPr lang="fr-FR" sz="1300" b="1" cap="none" dirty="0">
                <a:latin typeface="Arial" panose="020B0604020202020204" pitchFamily="34" charset="0"/>
              </a:rPr>
              <a:t>:</a:t>
            </a:r>
            <a:r>
              <a:rPr lang="fr-FR" sz="1300" cap="none" dirty="0">
                <a:latin typeface="Arial" panose="020B0604020202020204" pitchFamily="34" charset="0"/>
              </a:rPr>
              <a:t> Cerveau du système, gérant les entrées / sorties, la logique du jeu, et la communication.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fr-FR" altLang="fr-FR" sz="1300" cap="none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fr-FR" altLang="fr-FR" sz="1300" b="1" cap="none" dirty="0">
                <a:latin typeface="Arial" panose="020B0604020202020204" pitchFamily="34" charset="0"/>
                <a:cs typeface="Arial" panose="020B0604020202020204" pitchFamily="34" charset="0"/>
              </a:rPr>
              <a:t>Justification</a:t>
            </a:r>
            <a:r>
              <a:rPr lang="fr-FR" altLang="fr-FR" sz="1300" cap="none" dirty="0">
                <a:latin typeface="Arial" panose="020B0604020202020204" pitchFamily="34" charset="0"/>
                <a:cs typeface="Arial" panose="020B0604020202020204" pitchFamily="34" charset="0"/>
              </a:rPr>
              <a:t> : </a:t>
            </a:r>
            <a:endParaRPr lang="fr-FR" altLang="fr-FR" sz="1300" cap="none" dirty="0"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fr-FR" sz="1300" b="1" cap="none" dirty="0">
                <a:latin typeface="Arial" panose="020B0604020202020204" pitchFamily="34" charset="0"/>
              </a:rPr>
              <a:t>Plateforme robuste et communautaire :</a:t>
            </a:r>
            <a:r>
              <a:rPr lang="fr-FR" sz="1300" cap="none" dirty="0">
                <a:latin typeface="Arial" panose="020B0604020202020204" pitchFamily="34" charset="0"/>
              </a:rPr>
              <a:t> Très documentée, stable et utilisée dans de nombreux projets IoT, garantissant fiabilité et maintenance à long terme.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fr-FR" altLang="fr-FR" sz="1300" b="1" cap="none" dirty="0"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fr-FR" sz="1300" b="1" cap="none" dirty="0">
                <a:latin typeface="Arial" panose="020B0604020202020204" pitchFamily="34" charset="0"/>
              </a:rPr>
              <a:t>Nombre de GPIO suffisant :</a:t>
            </a:r>
            <a:r>
              <a:rPr lang="fr-FR" sz="1300" cap="none" dirty="0">
                <a:latin typeface="Arial" panose="020B0604020202020204" pitchFamily="34" charset="0"/>
              </a:rPr>
              <a:t> Permet de connecter le joystick, les LED, le buzzer et le LCD facilement.</a:t>
            </a:r>
            <a:endParaRPr lang="fr-FR" altLang="fr-FR" sz="1300" cap="none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09348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A" sz="4000" dirty="0"/>
              <a:t>Communication (2</a:t>
            </a:r>
            <a:r>
              <a:rPr lang="fr-CA" sz="4000" baseline="30000" dirty="0"/>
              <a:t>ième</a:t>
            </a:r>
            <a:r>
              <a:rPr lang="fr-CA" sz="4000" dirty="0"/>
              <a:t> remise)</a:t>
            </a:r>
            <a:endParaRPr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4351" y="1453896"/>
            <a:ext cx="7797662" cy="412394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CA" sz="1300" cap="none" dirty="0">
                <a:latin typeface="Arial" panose="020B0604020202020204" pitchFamily="34" charset="0"/>
                <a:cs typeface="Arial" panose="020B0604020202020204" pitchFamily="34" charset="0"/>
              </a:rPr>
              <a:t>Pour la communication, le cadenas envoie le temps que la personne a pris pour le déverrouiller. Le serveur reçoit, affiche et garde dans un fichier le record et les 10 dernières tentatives.</a:t>
            </a:r>
          </a:p>
          <a:p>
            <a:pPr marL="0" indent="0">
              <a:buNone/>
            </a:pPr>
            <a:r>
              <a:rPr lang="fr-CA" sz="1300" cap="none" dirty="0">
                <a:latin typeface="Arial" panose="020B0604020202020204" pitchFamily="34" charset="0"/>
                <a:cs typeface="Arial" panose="020B0604020202020204" pitchFamily="34" charset="0"/>
              </a:rPr>
              <a:t>Dans l’énigme ont pourrait utiliser ça pour ajouter une difficulté supplémentaire </a:t>
            </a:r>
          </a:p>
          <a:p>
            <a:pPr marL="0" indent="0">
              <a:buNone/>
            </a:pPr>
            <a:r>
              <a:rPr lang="fr-CA" sz="1300" b="1" cap="none" dirty="0">
                <a:latin typeface="Arial" panose="020B0604020202020204" pitchFamily="34" charset="0"/>
                <a:cs typeface="Arial" panose="020B0604020202020204" pitchFamily="34" charset="0"/>
              </a:rPr>
              <a:t>Exemple</a:t>
            </a:r>
            <a:r>
              <a:rPr lang="fr-CA" sz="1300" cap="none" dirty="0">
                <a:latin typeface="Arial" panose="020B0604020202020204" pitchFamily="34" charset="0"/>
                <a:cs typeface="Arial" panose="020B0604020202020204" pitchFamily="34" charset="0"/>
              </a:rPr>
              <a:t> : Si tu ne déverrouille pas le cadenas en moins de 5 secondes, tu échoue.</a:t>
            </a:r>
          </a:p>
          <a:p>
            <a:pPr marL="0" indent="0">
              <a:buNone/>
            </a:pPr>
            <a:r>
              <a:rPr lang="fr-FR" sz="1300" cap="none" dirty="0">
                <a:latin typeface="Arial" panose="020B0604020202020204" pitchFamily="34" charset="0"/>
                <a:cs typeface="Arial" panose="020B0604020202020204" pitchFamily="34" charset="0"/>
              </a:rPr>
              <a:t>Voici comment la communication fonctionne plus précisément :</a:t>
            </a:r>
          </a:p>
          <a:p>
            <a:pPr marL="0" indent="0">
              <a:buNone/>
            </a:pPr>
            <a:r>
              <a:rPr lang="fr-FR" sz="1300" b="1" cap="none" dirty="0">
                <a:latin typeface="Arial" panose="020B0604020202020204" pitchFamily="34" charset="0"/>
                <a:cs typeface="Arial" panose="020B0604020202020204" pitchFamily="34" charset="0"/>
              </a:rPr>
              <a:t>ESP32</a:t>
            </a:r>
            <a:r>
              <a:rPr lang="fr-FR" sz="1300" cap="none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300" b="1" cap="none" dirty="0">
                <a:latin typeface="Arial" panose="020B0604020202020204" pitchFamily="34" charset="0"/>
                <a:cs typeface="Arial" panose="020B0604020202020204" pitchFamily="34" charset="0"/>
              </a:rPr>
              <a:t>:	</a:t>
            </a:r>
            <a:r>
              <a:rPr lang="fr-FR" sz="1300" cap="none" dirty="0">
                <a:latin typeface="Arial" panose="020B0604020202020204" pitchFamily="34" charset="0"/>
                <a:cs typeface="Arial" panose="020B0604020202020204" pitchFamily="34" charset="0"/>
              </a:rPr>
              <a:t>Il se connecte au wifi en lui donnant l’identifiant et mot de passe.</a:t>
            </a:r>
          </a:p>
          <a:p>
            <a:pPr marL="0" indent="0">
              <a:buNone/>
            </a:pPr>
            <a:r>
              <a:rPr lang="fr-FR" sz="1300" cap="none" dirty="0">
                <a:latin typeface="Arial" panose="020B0604020202020204" pitchFamily="34" charset="0"/>
                <a:cs typeface="Arial" panose="020B0604020202020204" pitchFamily="34" charset="0"/>
              </a:rPr>
              <a:t>	Ensuite il se connecte à l’ordinateur avec l’adresse IP et le port du serveur.</a:t>
            </a:r>
          </a:p>
          <a:p>
            <a:pPr marL="0" indent="0">
              <a:buNone/>
            </a:pPr>
            <a:r>
              <a:rPr lang="fr-FR" sz="1300" cap="none" dirty="0">
                <a:latin typeface="Arial" panose="020B0604020202020204" pitchFamily="34" charset="0"/>
                <a:cs typeface="Arial" panose="020B0604020202020204" pitchFamily="34" charset="0"/>
              </a:rPr>
              <a:t>	Il peut par la suite envoyé le temps pour déverrouiller.</a:t>
            </a:r>
          </a:p>
          <a:p>
            <a:pPr marL="0" indent="0">
              <a:buNone/>
            </a:pPr>
            <a:r>
              <a:rPr lang="fr-FR" sz="1300" b="1" cap="none" dirty="0">
                <a:latin typeface="Arial" panose="020B0604020202020204" pitchFamily="34" charset="0"/>
                <a:cs typeface="Arial" panose="020B0604020202020204" pitchFamily="34" charset="0"/>
              </a:rPr>
              <a:t>Serveur</a:t>
            </a:r>
            <a:r>
              <a:rPr lang="fr-FR" sz="1300" cap="none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300" b="1" cap="none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fr-FR" sz="1300" cap="none" dirty="0">
                <a:latin typeface="Arial" panose="020B0604020202020204" pitchFamily="34" charset="0"/>
                <a:cs typeface="Arial" panose="020B0604020202020204" pitchFamily="34" charset="0"/>
              </a:rPr>
              <a:t> 	Fonctionne avec Node.js et Express.</a:t>
            </a:r>
          </a:p>
          <a:p>
            <a:pPr marL="0" indent="0">
              <a:buNone/>
            </a:pPr>
            <a:r>
              <a:rPr lang="fr-FR" sz="1300" cap="none" dirty="0">
                <a:latin typeface="Arial" panose="020B0604020202020204" pitchFamily="34" charset="0"/>
                <a:cs typeface="Arial" panose="020B0604020202020204" pitchFamily="34" charset="0"/>
              </a:rPr>
              <a:t>	Il faut simplement mettre l’adresse IP et le port.</a:t>
            </a:r>
          </a:p>
          <a:p>
            <a:pPr marL="0" indent="0">
              <a:buNone/>
            </a:pPr>
            <a:r>
              <a:rPr lang="fr-FR" sz="1300" cap="none" dirty="0">
                <a:latin typeface="Arial" panose="020B0604020202020204" pitchFamily="34" charset="0"/>
                <a:cs typeface="Arial" panose="020B0604020202020204" pitchFamily="34" charset="0"/>
              </a:rPr>
              <a:t>	Finalement, on affiche dans une page web les éléments reçus.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9D004-3C17-5AF5-9B8B-4DB450116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77D7C-778D-DF4D-69AE-2F22007E0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CA" sz="4000" dirty="0"/>
              <a:t>risques de sécurité et protection</a:t>
            </a:r>
            <a:endParaRPr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687BB2-92C7-0D35-0C6F-F739C4D212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351" y="1618488"/>
            <a:ext cx="7797662" cy="37560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1300" b="1" cap="none" dirty="0">
                <a:latin typeface="Arial" panose="020B0604020202020204" pitchFamily="34" charset="0"/>
                <a:cs typeface="Arial" panose="020B0604020202020204" pitchFamily="34" charset="0"/>
              </a:rPr>
              <a:t>Risques : </a:t>
            </a:r>
          </a:p>
          <a:p>
            <a:pPr marL="0" indent="0">
              <a:buNone/>
            </a:pPr>
            <a:r>
              <a:rPr lang="fr-FR" sz="1300" cap="none" dirty="0">
                <a:latin typeface="Arial" panose="020B0604020202020204" pitchFamily="34" charset="0"/>
                <a:cs typeface="Arial" panose="020B0604020202020204" pitchFamily="34" charset="0"/>
              </a:rPr>
              <a:t>L’ESP32 communique en HTTP, ce qui signifie que les données envoyées peuvent être interceptées et modifié par une personne connectée sur le même Wi-Fi.</a:t>
            </a:r>
          </a:p>
          <a:p>
            <a:pPr marL="0" indent="0">
              <a:buNone/>
            </a:pPr>
            <a:r>
              <a:rPr lang="fr-FR" sz="1300" cap="none" dirty="0">
                <a:latin typeface="Arial" panose="020B0604020202020204" pitchFamily="34" charset="0"/>
                <a:cs typeface="Arial" panose="020B0604020202020204" pitchFamily="34" charset="0"/>
              </a:rPr>
              <a:t>Il pourrait aussi avoir des attaques </a:t>
            </a:r>
            <a:r>
              <a:rPr lang="fr-FR" sz="1300" cap="none" dirty="0" err="1">
                <a:latin typeface="Arial" panose="020B0604020202020204" pitchFamily="34" charset="0"/>
                <a:cs typeface="Arial" panose="020B0604020202020204" pitchFamily="34" charset="0"/>
              </a:rPr>
              <a:t>DoS</a:t>
            </a:r>
            <a:r>
              <a:rPr lang="fr-FR" sz="1300" cap="none" dirty="0">
                <a:latin typeface="Arial" panose="020B0604020202020204" pitchFamily="34" charset="0"/>
                <a:cs typeface="Arial" panose="020B0604020202020204" pitchFamily="34" charset="0"/>
              </a:rPr>
              <a:t> local pour spammer /</a:t>
            </a:r>
            <a:r>
              <a:rPr lang="fr-FR" sz="1300" cap="none" dirty="0" err="1">
                <a:latin typeface="Arial" panose="020B0604020202020204" pitchFamily="34" charset="0"/>
                <a:cs typeface="Arial" panose="020B0604020202020204" pitchFamily="34" charset="0"/>
              </a:rPr>
              <a:t>submit</a:t>
            </a:r>
            <a:r>
              <a:rPr lang="fr-FR" sz="1300" cap="none" dirty="0">
                <a:latin typeface="Arial" panose="020B0604020202020204" pitchFamily="34" charset="0"/>
                <a:cs typeface="Arial" panose="020B0604020202020204" pitchFamily="34" charset="0"/>
              </a:rPr>
              <a:t> ou /reset et rendre le tableau de bord inutilisable (Si une personne réussie à se connecter au même wifi).</a:t>
            </a:r>
          </a:p>
          <a:p>
            <a:pPr marL="0" indent="0">
              <a:buNone/>
            </a:pPr>
            <a:r>
              <a:rPr lang="fr-FR" sz="1300" b="1" cap="none" dirty="0">
                <a:latin typeface="Arial" panose="020B0604020202020204" pitchFamily="34" charset="0"/>
                <a:cs typeface="Arial" panose="020B0604020202020204" pitchFamily="34" charset="0"/>
              </a:rPr>
              <a:t>Protection :</a:t>
            </a:r>
          </a:p>
          <a:p>
            <a:pPr marL="0" indent="0">
              <a:buNone/>
            </a:pPr>
            <a:r>
              <a:rPr lang="fr-FR" sz="1300" cap="none" dirty="0">
                <a:latin typeface="Arial" panose="020B0604020202020204" pitchFamily="34" charset="0"/>
                <a:cs typeface="Arial" panose="020B0604020202020204" pitchFamily="34" charset="0"/>
              </a:rPr>
              <a:t>Le serveur n’est pas sur internet il est en local, ce qui limite les risques à l’intérieur du wifi.</a:t>
            </a:r>
          </a:p>
          <a:p>
            <a:pPr marL="0" indent="0">
              <a:buNone/>
            </a:pPr>
            <a:r>
              <a:rPr lang="fr-FR" sz="1300" cap="none" dirty="0">
                <a:latin typeface="Arial" panose="020B0604020202020204" pitchFamily="34" charset="0"/>
                <a:cs typeface="Arial" panose="020B0604020202020204" pitchFamily="34" charset="0"/>
              </a:rPr>
              <a:t>Le réseau wifi est protégé par un mot de passe ce qui réduit aussi les accès et protège le réseau contre les attaques internes.</a:t>
            </a:r>
          </a:p>
        </p:txBody>
      </p:sp>
    </p:spTree>
    <p:extLst>
      <p:ext uri="{BB962C8B-B14F-4D97-AF65-F5344CB8AC3E}">
        <p14:creationId xmlns:p14="http://schemas.microsoft.com/office/powerpoint/2010/main" val="28273658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605756B-CEEA-72EF-DF13-93C7207B9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sz="4000" dirty="0"/>
              <a:t>Roadmap (Liste de chose à faire)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B6CAAAC-67EF-4CF5-1487-8772485B2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351" y="1533044"/>
            <a:ext cx="7797662" cy="3311189"/>
          </a:xfrm>
        </p:spPr>
        <p:txBody>
          <a:bodyPr>
            <a:normAutofit/>
          </a:bodyPr>
          <a:lstStyle/>
          <a:p>
            <a:r>
              <a:rPr lang="fr-CA" sz="1300" cap="none" dirty="0">
                <a:latin typeface="Arial" panose="020B0604020202020204" pitchFamily="34" charset="0"/>
                <a:cs typeface="Arial" panose="020B0604020202020204" pitchFamily="34" charset="0"/>
              </a:rPr>
              <a:t>Prototype Fonctionnel : joystick, </a:t>
            </a:r>
            <a:r>
              <a:rPr lang="fr-CA" sz="1300" cap="none" dirty="0" err="1">
                <a:latin typeface="Arial" panose="020B0604020202020204" pitchFamily="34" charset="0"/>
                <a:cs typeface="Arial" panose="020B0604020202020204" pitchFamily="34" charset="0"/>
              </a:rPr>
              <a:t>led</a:t>
            </a:r>
            <a:r>
              <a:rPr lang="fr-CA" sz="1300" cap="none" dirty="0">
                <a:latin typeface="Arial" panose="020B0604020202020204" pitchFamily="34" charset="0"/>
                <a:cs typeface="Arial" panose="020B0604020202020204" pitchFamily="34" charset="0"/>
              </a:rPr>
              <a:t>, buzzer, écran </a:t>
            </a:r>
            <a:r>
              <a:rPr lang="fr-CA" sz="1300" cap="none" dirty="0" err="1">
                <a:latin typeface="Arial" panose="020B0604020202020204" pitchFamily="34" charset="0"/>
                <a:cs typeface="Arial" panose="020B0604020202020204" pitchFamily="34" charset="0"/>
              </a:rPr>
              <a:t>lcd</a:t>
            </a:r>
            <a:r>
              <a:rPr lang="fr-CA" sz="1300" cap="none" dirty="0">
                <a:latin typeface="Arial" panose="020B0604020202020204" pitchFamily="34" charset="0"/>
                <a:cs typeface="Arial" panose="020B0604020202020204" pitchFamily="34" charset="0"/>
              </a:rPr>
              <a:t> = terminé</a:t>
            </a:r>
          </a:p>
          <a:p>
            <a:r>
              <a:rPr lang="fr-CA" sz="1300" cap="none" dirty="0">
                <a:latin typeface="Arial" panose="020B0604020202020204" pitchFamily="34" charset="0"/>
                <a:cs typeface="Arial" panose="020B0604020202020204" pitchFamily="34" charset="0"/>
              </a:rPr>
              <a:t>Code fonctionnel = terminé</a:t>
            </a:r>
          </a:p>
          <a:p>
            <a:r>
              <a:rPr lang="fr-CA" sz="1300" cap="none" dirty="0">
                <a:latin typeface="Arial" panose="020B0604020202020204" pitchFamily="34" charset="0"/>
                <a:cs typeface="Arial" panose="020B0604020202020204" pitchFamily="34" charset="0"/>
              </a:rPr>
              <a:t>Configurer l’écran </a:t>
            </a:r>
            <a:r>
              <a:rPr lang="fr-CA" sz="1300" cap="none" dirty="0" err="1">
                <a:latin typeface="Arial" panose="020B0604020202020204" pitchFamily="34" charset="0"/>
                <a:cs typeface="Arial" panose="020B0604020202020204" pitchFamily="34" charset="0"/>
              </a:rPr>
              <a:t>lcd</a:t>
            </a:r>
            <a:r>
              <a:rPr lang="fr-CA" sz="1300" cap="none" dirty="0">
                <a:latin typeface="Arial" panose="020B0604020202020204" pitchFamily="34" charset="0"/>
                <a:cs typeface="Arial" panose="020B0604020202020204" pitchFamily="34" charset="0"/>
              </a:rPr>
              <a:t> pour un affichage propre = terminé</a:t>
            </a:r>
          </a:p>
          <a:p>
            <a:r>
              <a:rPr lang="fr-CA" sz="1300" cap="none" dirty="0">
                <a:latin typeface="Arial" panose="020B0604020202020204" pitchFamily="34" charset="0"/>
                <a:cs typeface="Arial" panose="020B0604020202020204" pitchFamily="34" charset="0"/>
              </a:rPr>
              <a:t>Création du tableau de bord sur ordi = terminé</a:t>
            </a:r>
          </a:p>
          <a:p>
            <a:r>
              <a:rPr lang="fr-CA" sz="1300" cap="none" dirty="0">
                <a:latin typeface="Arial" panose="020B0604020202020204" pitchFamily="34" charset="0"/>
                <a:cs typeface="Arial" panose="020B0604020202020204" pitchFamily="34" charset="0"/>
              </a:rPr>
              <a:t>Communication avec wifi = terminé</a:t>
            </a:r>
          </a:p>
        </p:txBody>
      </p:sp>
    </p:spTree>
    <p:extLst>
      <p:ext uri="{BB962C8B-B14F-4D97-AF65-F5344CB8AC3E}">
        <p14:creationId xmlns:p14="http://schemas.microsoft.com/office/powerpoint/2010/main" val="2219902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dirty="0"/>
              <a:t>Introduction aux </a:t>
            </a:r>
            <a:r>
              <a:rPr sz="4000" dirty="0" err="1"/>
              <a:t>annexe</a:t>
            </a:r>
            <a:r>
              <a:rPr lang="fr-CA" sz="4000" dirty="0"/>
              <a:t>s</a:t>
            </a:r>
            <a:endParaRPr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4351" y="1837765"/>
            <a:ext cx="7797662" cy="31824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CA" sz="1300" b="1" cap="none" dirty="0">
                <a:latin typeface="Arial" panose="020B0604020202020204" pitchFamily="34" charset="0"/>
                <a:cs typeface="Arial" panose="020B0604020202020204" pitchFamily="34" charset="0"/>
              </a:rPr>
              <a:t>A1 — Code</a:t>
            </a:r>
            <a:r>
              <a:rPr lang="fr-CA" sz="1300" cap="none" dirty="0">
                <a:latin typeface="Arial" panose="020B0604020202020204" pitchFamily="34" charset="0"/>
                <a:cs typeface="Arial" panose="020B0604020202020204" pitchFamily="34" charset="0"/>
              </a:rPr>
              <a:t> : </a:t>
            </a:r>
          </a:p>
          <a:p>
            <a:pPr marL="0" indent="0">
              <a:buNone/>
            </a:pPr>
            <a:r>
              <a:rPr lang="fr-CA" sz="1300" b="1" cap="none" dirty="0">
                <a:latin typeface="Arial" panose="020B0604020202020204" pitchFamily="34" charset="0"/>
                <a:cs typeface="Arial" panose="020B0604020202020204" pitchFamily="34" charset="0"/>
              </a:rPr>
              <a:t>dossier cadenas</a:t>
            </a:r>
            <a:br>
              <a:rPr lang="fr-CA" sz="1300" cap="none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fr-CA" sz="1300" cap="none" dirty="0">
                <a:latin typeface="Arial" panose="020B0604020202020204" pitchFamily="34" charset="0"/>
                <a:cs typeface="Arial" panose="020B0604020202020204" pitchFamily="34" charset="0"/>
              </a:rPr>
              <a:t>Contenu: main/, components/ (lcd1602_i2c, joystick, buzzer, </a:t>
            </a:r>
            <a:r>
              <a:rPr lang="fr-CA" sz="1300" cap="none" dirty="0" err="1">
                <a:latin typeface="Arial" panose="020B0604020202020204" pitchFamily="34" charset="0"/>
                <a:cs typeface="Arial" panose="020B0604020202020204" pitchFamily="34" charset="0"/>
              </a:rPr>
              <a:t>leds</a:t>
            </a:r>
            <a:r>
              <a:rPr lang="fr-CA" sz="1300" cap="none" dirty="0">
                <a:latin typeface="Arial" panose="020B0604020202020204" pitchFamily="34" charset="0"/>
                <a:cs typeface="Arial" panose="020B0604020202020204" pitchFamily="34" charset="0"/>
              </a:rPr>
              <a:t>), README.md.</a:t>
            </a:r>
          </a:p>
          <a:p>
            <a:pPr marL="0" indent="0">
              <a:buNone/>
            </a:pPr>
            <a:r>
              <a:rPr lang="fr-CA" sz="1300" b="1" cap="none" dirty="0">
                <a:latin typeface="Arial" panose="020B0604020202020204" pitchFamily="34" charset="0"/>
                <a:cs typeface="Arial" panose="020B0604020202020204" pitchFamily="34" charset="0"/>
              </a:rPr>
              <a:t>dossier </a:t>
            </a:r>
            <a:r>
              <a:rPr lang="fr-CA" sz="1300" b="1" cap="none" dirty="0" err="1">
                <a:latin typeface="Arial" panose="020B0604020202020204" pitchFamily="34" charset="0"/>
                <a:cs typeface="Arial" panose="020B0604020202020204" pitchFamily="34" charset="0"/>
              </a:rPr>
              <a:t>serveurObjet</a:t>
            </a:r>
            <a:br>
              <a:rPr lang="fr-CA" sz="1300" cap="none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fr-CA" sz="1300" cap="none" dirty="0">
                <a:latin typeface="Arial" panose="020B0604020202020204" pitchFamily="34" charset="0"/>
                <a:cs typeface="Arial" panose="020B0604020202020204" pitchFamily="34" charset="0"/>
              </a:rPr>
              <a:t>Contenu: server.js, index.html, style.css, </a:t>
            </a:r>
            <a:r>
              <a:rPr lang="fr-CA" sz="1300" cap="none" dirty="0" err="1">
                <a:latin typeface="Arial" panose="020B0604020202020204" pitchFamily="34" charset="0"/>
                <a:cs typeface="Arial" panose="020B0604020202020204" pitchFamily="34" charset="0"/>
              </a:rPr>
              <a:t>data.json</a:t>
            </a:r>
            <a:r>
              <a:rPr lang="fr-CA" sz="1300" cap="none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fr-CA" sz="1300" cap="none" dirty="0" err="1">
                <a:latin typeface="Arial" panose="020B0604020202020204" pitchFamily="34" charset="0"/>
                <a:cs typeface="Arial" panose="020B0604020202020204" pitchFamily="34" charset="0"/>
              </a:rPr>
              <a:t>package.json</a:t>
            </a:r>
            <a:r>
              <a:rPr lang="fr-CA" sz="1300" cap="none" dirty="0">
                <a:latin typeface="Arial" panose="020B0604020202020204" pitchFamily="34" charset="0"/>
                <a:cs typeface="Arial" panose="020B0604020202020204" pitchFamily="34" charset="0"/>
              </a:rPr>
              <a:t>, README.md.</a:t>
            </a:r>
          </a:p>
          <a:p>
            <a:pPr marL="0" indent="0">
              <a:buNone/>
            </a:pPr>
            <a:endParaRPr lang="fr-CA" sz="1300" cap="none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fr-CA" sz="1300" b="1" cap="none" dirty="0">
                <a:latin typeface="Arial" panose="020B0604020202020204" pitchFamily="34" charset="0"/>
                <a:cs typeface="Arial" panose="020B0604020202020204" pitchFamily="34" charset="0"/>
              </a:rPr>
              <a:t>A2 — Vidéo YouTube Démo</a:t>
            </a:r>
            <a:r>
              <a:rPr lang="fr-CA" sz="1300" cap="none" dirty="0">
                <a:latin typeface="Arial" panose="020B0604020202020204" pitchFamily="34" charset="0"/>
                <a:cs typeface="Arial" panose="020B0604020202020204" pitchFamily="34" charset="0"/>
              </a:rPr>
              <a:t> : </a:t>
            </a:r>
            <a:r>
              <a:rPr lang="fr-CA" sz="1300" cap="none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https://www.youtube.com/watch?v</a:t>
            </a:r>
            <a:r>
              <a:rPr lang="fr-CA" sz="1300" cap="none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=vFxJ0kT0aP4</a:t>
            </a:r>
            <a:endParaRPr lang="fr-CA" sz="1300" cap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Grand événement">
  <a:themeElements>
    <a:clrScheme name="Grand événement">
      <a:dk1>
        <a:sysClr val="windowText" lastClr="000000"/>
      </a:dk1>
      <a:lt1>
        <a:sysClr val="window" lastClr="FFFFFF"/>
      </a:lt1>
      <a:dk2>
        <a:srgbClr val="424242"/>
      </a:dk2>
      <a:lt2>
        <a:srgbClr val="C8C8C8"/>
      </a:lt2>
      <a:accent1>
        <a:srgbClr val="B80E0F"/>
      </a:accent1>
      <a:accent2>
        <a:srgbClr val="A6987D"/>
      </a:accent2>
      <a:accent3>
        <a:srgbClr val="7F9A71"/>
      </a:accent3>
      <a:accent4>
        <a:srgbClr val="64969F"/>
      </a:accent4>
      <a:accent5>
        <a:srgbClr val="9B75B2"/>
      </a:accent5>
      <a:accent6>
        <a:srgbClr val="80737A"/>
      </a:accent6>
      <a:hlink>
        <a:srgbClr val="F21213"/>
      </a:hlink>
      <a:folHlink>
        <a:srgbClr val="B6A394"/>
      </a:folHlink>
    </a:clrScheme>
    <a:fontScheme name="Grand événement">
      <a:majorFont>
        <a:latin typeface="Impact" panose="020B080603090205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mpact" panose="020B080603090205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rand événemen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blipFill>
          <a:blip xmlns:r="http://schemas.openxmlformats.org/officeDocument/2006/relationships" r:embed="rId1">
            <a:duotone>
              <a:schemeClr val="phClr">
                <a:shade val="88000"/>
                <a:lumMod val="88000"/>
              </a:schemeClr>
              <a:schemeClr val="phClr"/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25400" dist="127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0"/>
        </a:gradFill>
        <a:blipFill>
          <a:blip xmlns:r="http://schemas.openxmlformats.org/officeDocument/2006/relationships" r:embed="rId2">
            <a:duotone>
              <a:schemeClr val="phClr">
                <a:shade val="48000"/>
                <a:satMod val="110000"/>
                <a:lumMod val="40000"/>
              </a:schemeClr>
              <a:schemeClr val="phClr">
                <a:tint val="90000"/>
                <a:lumMod val="10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in Event" id="{AC372BB4-D83D-411E-B849-B641926BA760}" vid="{F1EFBDE3-1A95-4E3D-81AD-1F53D65BEA0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398</TotalTime>
  <Words>1210</Words>
  <Application>Microsoft Office PowerPoint</Application>
  <PresentationFormat>Affichage à l'écran (4:3)</PresentationFormat>
  <Paragraphs>102</Paragraphs>
  <Slides>13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6" baseType="lpstr">
      <vt:lpstr>Arial</vt:lpstr>
      <vt:lpstr>Impact</vt:lpstr>
      <vt:lpstr>Grand événement</vt:lpstr>
      <vt:lpstr>Énigme escape room</vt:lpstr>
      <vt:lpstr>Scénario et Rôle de l’énigme </vt:lpstr>
      <vt:lpstr>Schéma du circuit électronique</vt:lpstr>
      <vt:lpstr>Explications DU fonctionnement.</vt:lpstr>
      <vt:lpstr>Capteurs &amp; actionneurs</vt:lpstr>
      <vt:lpstr>Capteurs &amp; actionneurs</vt:lpstr>
      <vt:lpstr>Capteurs &amp; actionneurs</vt:lpstr>
      <vt:lpstr>Capteurs &amp; actionneurs</vt:lpstr>
      <vt:lpstr>Capteurs &amp; actionneurs</vt:lpstr>
      <vt:lpstr>Communication (2ième remise)</vt:lpstr>
      <vt:lpstr>risques de sécurité et protection</vt:lpstr>
      <vt:lpstr>Roadmap (Liste de chose à faire)</vt:lpstr>
      <vt:lpstr>Introduction aux annexes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Xavier Desroches</cp:lastModifiedBy>
  <cp:revision>336</cp:revision>
  <dcterms:created xsi:type="dcterms:W3CDTF">2013-01-27T09:14:16Z</dcterms:created>
  <dcterms:modified xsi:type="dcterms:W3CDTF">2025-11-19T22:57:41Z</dcterms:modified>
  <cp:category/>
</cp:coreProperties>
</file>